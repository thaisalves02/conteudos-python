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</p:sldIdLst>
  <p:sldSz cy="5143500" cx="9144000"/>
  <p:notesSz cx="6858000" cy="9144000"/>
  <p:embeddedFontLst>
    <p:embeddedFont>
      <p:font typeface="Montserrat SemiBold"/>
      <p:regular r:id="rId46"/>
      <p:bold r:id="rId47"/>
      <p:italic r:id="rId48"/>
      <p:boldItalic r:id="rId49"/>
    </p:embeddedFont>
    <p:embeddedFont>
      <p:font typeface="Montserrat"/>
      <p:regular r:id="rId50"/>
      <p:bold r:id="rId51"/>
      <p:italic r:id="rId52"/>
      <p:boldItalic r:id="rId53"/>
    </p:embeddedFont>
    <p:embeddedFont>
      <p:font typeface="Montserrat ExtraBold"/>
      <p:bold r:id="rId54"/>
      <p:boldItalic r:id="rId55"/>
    </p:embeddedFont>
    <p:embeddedFont>
      <p:font typeface="Spectral Light"/>
      <p:regular r:id="rId56"/>
      <p:bold r:id="rId57"/>
      <p:italic r:id="rId58"/>
      <p:boldItalic r:id="rId5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37">
          <p15:clr>
            <a:srgbClr val="A4A3A4"/>
          </p15:clr>
        </p15:guide>
        <p15:guide id="2" pos="5558">
          <p15:clr>
            <a:srgbClr val="A4A3A4"/>
          </p15:clr>
        </p15:guide>
        <p15:guide id="3" pos="1304">
          <p15:clr>
            <a:srgbClr val="A4A3A4"/>
          </p15:clr>
        </p15:guide>
        <p15:guide id="4" orient="horz" pos="1620">
          <p15:clr>
            <a:srgbClr val="A4A3A4"/>
          </p15:clr>
        </p15:guide>
        <p15:guide id="5" orient="horz" pos="2623">
          <p15:clr>
            <a:srgbClr val="A4A3A4"/>
          </p15:clr>
        </p15:guide>
        <p15:guide id="6" pos="4320">
          <p15:clr>
            <a:srgbClr val="A4A3A4"/>
          </p15:clr>
        </p15:guide>
        <p15:guide id="7" pos="3118">
          <p15:clr>
            <a:srgbClr val="A4A3A4"/>
          </p15:clr>
        </p15:guide>
        <p15:guide id="8" pos="2976">
          <p15:clr>
            <a:srgbClr val="A4A3A4"/>
          </p15:clr>
        </p15:guide>
        <p15:guide id="9" orient="horz" pos="590">
          <p15:clr>
            <a:srgbClr val="A4A3A4"/>
          </p15:clr>
        </p15:guide>
        <p15:guide id="10" pos="2268">
          <p15:clr>
            <a:srgbClr val="A4A3A4"/>
          </p15:clr>
        </p15:guide>
        <p15:guide id="11" pos="3902">
          <p15:clr>
            <a:srgbClr val="A4A3A4"/>
          </p15:clr>
        </p15:guide>
        <p15:guide id="12" orient="horz" pos="1058">
          <p15:clr>
            <a:srgbClr val="A4A3A4"/>
          </p15:clr>
        </p15:guide>
      </p15:sldGuideLst>
    </p:ext>
    <p:ext uri="GoogleSlidesCustomDataVersion2">
      <go:slidesCustomData xmlns:go="http://customooxmlschemas.google.com/" r:id="rId60" roundtripDataSignature="AMtx7mgiZN5jDbc+zUHglnlY3pOVAIVsI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37" orient="horz"/>
        <p:guide pos="5558"/>
        <p:guide pos="1304"/>
        <p:guide pos="1620" orient="horz"/>
        <p:guide pos="2623" orient="horz"/>
        <p:guide pos="4320"/>
        <p:guide pos="3118"/>
        <p:guide pos="2976"/>
        <p:guide pos="590" orient="horz"/>
        <p:guide pos="2268"/>
        <p:guide pos="3902"/>
        <p:guide pos="1058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font" Target="fonts/MontserratSemiBold-regular.fntdata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MontserratSemiBold-italic.fntdata"/><Relationship Id="rId47" Type="http://schemas.openxmlformats.org/officeDocument/2006/relationships/font" Target="fonts/MontserratSemiBold-bold.fntdata"/><Relationship Id="rId49" Type="http://schemas.openxmlformats.org/officeDocument/2006/relationships/font" Target="fonts/MontserratSemiBold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60" Type="http://customschemas.google.com/relationships/presentationmetadata" Target="metadata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Montserrat-bold.fntdata"/><Relationship Id="rId50" Type="http://schemas.openxmlformats.org/officeDocument/2006/relationships/font" Target="fonts/Montserrat-regular.fntdata"/><Relationship Id="rId53" Type="http://schemas.openxmlformats.org/officeDocument/2006/relationships/font" Target="fonts/Montserrat-boldItalic.fntdata"/><Relationship Id="rId52" Type="http://schemas.openxmlformats.org/officeDocument/2006/relationships/font" Target="fonts/Montserrat-italic.fntdata"/><Relationship Id="rId11" Type="http://schemas.openxmlformats.org/officeDocument/2006/relationships/slide" Target="slides/slide6.xml"/><Relationship Id="rId55" Type="http://schemas.openxmlformats.org/officeDocument/2006/relationships/font" Target="fonts/MontserratExtraBold-boldItalic.fntdata"/><Relationship Id="rId10" Type="http://schemas.openxmlformats.org/officeDocument/2006/relationships/slide" Target="slides/slide5.xml"/><Relationship Id="rId54" Type="http://schemas.openxmlformats.org/officeDocument/2006/relationships/font" Target="fonts/MontserratExtraBold-bold.fntdata"/><Relationship Id="rId13" Type="http://schemas.openxmlformats.org/officeDocument/2006/relationships/slide" Target="slides/slide8.xml"/><Relationship Id="rId57" Type="http://schemas.openxmlformats.org/officeDocument/2006/relationships/font" Target="fonts/SpectralLight-bold.fntdata"/><Relationship Id="rId12" Type="http://schemas.openxmlformats.org/officeDocument/2006/relationships/slide" Target="slides/slide7.xml"/><Relationship Id="rId56" Type="http://schemas.openxmlformats.org/officeDocument/2006/relationships/font" Target="fonts/SpectralLight-regular.fntdata"/><Relationship Id="rId15" Type="http://schemas.openxmlformats.org/officeDocument/2006/relationships/slide" Target="slides/slide10.xml"/><Relationship Id="rId59" Type="http://schemas.openxmlformats.org/officeDocument/2006/relationships/font" Target="fonts/SpectralLight-boldItalic.fntdata"/><Relationship Id="rId14" Type="http://schemas.openxmlformats.org/officeDocument/2006/relationships/slide" Target="slides/slide9.xml"/><Relationship Id="rId58" Type="http://schemas.openxmlformats.org/officeDocument/2006/relationships/font" Target="fonts/SpectralLight-italic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" name="Google Shape;3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" name="Google Shape;4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" name="Google Shape;4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" name="Google Shape;5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" name="Google Shape;5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" name="Google Shape;6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" name="Google Shape;7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" name="Google Shape;7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" name="Google Shape;8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" name="Google Shape;10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" name="Google Shape;109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" name="Google Shape;115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" name="Google Shape;127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" name="Google Shape;133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" name="Google Shape;139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" name="Google Shape;151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" name="Google Shape;157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3" name="Google Shape;163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0" name="Google Shape;170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" name="Google Shape;176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" name="Google Shape;182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7" name="Google Shape;187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3" name="Google Shape;193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8" name="Google Shape;198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5" name="Google Shape;205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1" name="Google Shape;211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7" name="Google Shape;217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3" name="Google Shape;223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9" name="Google Shape;229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5" name="Google Shape;235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1" name="Google Shape;241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7" name="Google Shape;247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3" name="Google Shape;253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9" name="Google Shape;259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39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1" name="Google Shape;271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42"/>
          <p:cNvSpPr txBox="1"/>
          <p:nvPr>
            <p:ph type="ctrTitle"/>
          </p:nvPr>
        </p:nvSpPr>
        <p:spPr>
          <a:xfrm>
            <a:off x="1516500" y="1001050"/>
            <a:ext cx="6809100" cy="314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4600"/>
              <a:buNone/>
              <a:defRPr sz="4600">
                <a:solidFill>
                  <a:srgbClr val="25252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10" name="Google Shape;10;p42"/>
          <p:cNvSpPr/>
          <p:nvPr/>
        </p:nvSpPr>
        <p:spPr>
          <a:xfrm rot="-5400000">
            <a:off x="-1173125" y="2799675"/>
            <a:ext cx="4615200" cy="92400"/>
          </a:xfrm>
          <a:prstGeom prst="rect">
            <a:avLst/>
          </a:prstGeom>
          <a:solidFill>
            <a:srgbClr val="17458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42"/>
          <p:cNvSpPr txBox="1"/>
          <p:nvPr>
            <p:ph idx="1" type="subTitle"/>
          </p:nvPr>
        </p:nvSpPr>
        <p:spPr>
          <a:xfrm rot="-5400000">
            <a:off x="-1772935" y="1844264"/>
            <a:ext cx="4950600" cy="578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666666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666666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666666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666666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666666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666666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666666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666666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666666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Title &amp; subtitle slide" type="secHead">
  <p:cSld name="SECTION_HEADER">
    <p:bg>
      <p:bgPr>
        <a:noFill/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43"/>
          <p:cNvSpPr txBox="1"/>
          <p:nvPr>
            <p:ph type="title"/>
          </p:nvPr>
        </p:nvSpPr>
        <p:spPr>
          <a:xfrm>
            <a:off x="1477425" y="2095075"/>
            <a:ext cx="3942300" cy="1585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3334"/>
              </a:buClr>
              <a:buSzPts val="3300"/>
              <a:buNone/>
              <a:defRPr sz="3300">
                <a:solidFill>
                  <a:srgbClr val="373334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3334"/>
              </a:buClr>
              <a:buSzPts val="3300"/>
              <a:buNone/>
              <a:defRPr sz="3300">
                <a:solidFill>
                  <a:srgbClr val="373334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3334"/>
              </a:buClr>
              <a:buSzPts val="3300"/>
              <a:buNone/>
              <a:defRPr sz="3300">
                <a:solidFill>
                  <a:srgbClr val="373334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3334"/>
              </a:buClr>
              <a:buSzPts val="3300"/>
              <a:buNone/>
              <a:defRPr sz="3300">
                <a:solidFill>
                  <a:srgbClr val="373334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3334"/>
              </a:buClr>
              <a:buSzPts val="3300"/>
              <a:buNone/>
              <a:defRPr sz="3300">
                <a:solidFill>
                  <a:srgbClr val="373334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3334"/>
              </a:buClr>
              <a:buSzPts val="3300"/>
              <a:buNone/>
              <a:defRPr sz="3300">
                <a:solidFill>
                  <a:srgbClr val="373334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3334"/>
              </a:buClr>
              <a:buSzPts val="3300"/>
              <a:buNone/>
              <a:defRPr sz="3300">
                <a:solidFill>
                  <a:srgbClr val="373334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3334"/>
              </a:buClr>
              <a:buSzPts val="3300"/>
              <a:buNone/>
              <a:defRPr sz="3300">
                <a:solidFill>
                  <a:srgbClr val="373334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3334"/>
              </a:buClr>
              <a:buSzPts val="3300"/>
              <a:buNone/>
              <a:defRPr sz="3300">
                <a:solidFill>
                  <a:srgbClr val="373334"/>
                </a:solidFill>
              </a:defRPr>
            </a:lvl9pPr>
          </a:lstStyle>
          <a:p/>
        </p:txBody>
      </p:sp>
      <p:sp>
        <p:nvSpPr>
          <p:cNvPr id="14" name="Google Shape;14;p43"/>
          <p:cNvSpPr txBox="1"/>
          <p:nvPr>
            <p:ph idx="1" type="subTitle"/>
          </p:nvPr>
        </p:nvSpPr>
        <p:spPr>
          <a:xfrm>
            <a:off x="1477425" y="4030950"/>
            <a:ext cx="2770200" cy="5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666666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666666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666666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666666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666666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666666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666666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666666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666666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9pPr>
          </a:lstStyle>
          <a:p/>
        </p:txBody>
      </p:sp>
      <p:sp>
        <p:nvSpPr>
          <p:cNvPr id="15" name="Google Shape;15;p43"/>
          <p:cNvSpPr/>
          <p:nvPr/>
        </p:nvSpPr>
        <p:spPr>
          <a:xfrm rot="-5400000">
            <a:off x="-1173125" y="2799675"/>
            <a:ext cx="4615200" cy="92400"/>
          </a:xfrm>
          <a:prstGeom prst="rect">
            <a:avLst/>
          </a:prstGeom>
          <a:solidFill>
            <a:srgbClr val="17458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" name="Google Shape;16;p4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35711" y="4555710"/>
            <a:ext cx="402793" cy="4292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 slide">
  <p:cSld name="Caption slid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4"/>
          <p:cNvSpPr txBox="1"/>
          <p:nvPr>
            <p:ph type="title"/>
          </p:nvPr>
        </p:nvSpPr>
        <p:spPr>
          <a:xfrm>
            <a:off x="496300" y="1198875"/>
            <a:ext cx="5016000" cy="2049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19" name="Google Shape;19;p44"/>
          <p:cNvSpPr/>
          <p:nvPr/>
        </p:nvSpPr>
        <p:spPr>
          <a:xfrm rot="10800000">
            <a:off x="561900" y="4669200"/>
            <a:ext cx="2289600" cy="92400"/>
          </a:xfrm>
          <a:prstGeom prst="rect">
            <a:avLst/>
          </a:prstGeom>
          <a:solidFill>
            <a:srgbClr val="90CC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E7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44"/>
          <p:cNvSpPr txBox="1"/>
          <p:nvPr>
            <p:ph idx="1" type="subTitle"/>
          </p:nvPr>
        </p:nvSpPr>
        <p:spPr>
          <a:xfrm>
            <a:off x="496300" y="3315875"/>
            <a:ext cx="3343200" cy="106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latin typeface="Spectral Light"/>
                <a:ea typeface="Spectral Light"/>
                <a:cs typeface="Spectral Light"/>
                <a:sym typeface="Spectral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52525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52525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52525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52525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52525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52525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52525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52525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9pPr>
          </a:lstStyle>
          <a:p/>
        </p:txBody>
      </p:sp>
      <p:pic>
        <p:nvPicPr>
          <p:cNvPr id="21" name="Google Shape;21;p4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498910" y="4555710"/>
            <a:ext cx="402793" cy="4292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slide">
  <p:cSld name="Quote slide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5"/>
          <p:cNvSpPr/>
          <p:nvPr/>
        </p:nvSpPr>
        <p:spPr>
          <a:xfrm>
            <a:off x="2028900" y="0"/>
            <a:ext cx="5086200" cy="5143500"/>
          </a:xfrm>
          <a:prstGeom prst="parallelogram">
            <a:avLst>
              <a:gd fmla="val 25000" name="adj"/>
            </a:avLst>
          </a:prstGeom>
          <a:solidFill>
            <a:srgbClr val="17458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45"/>
          <p:cNvSpPr txBox="1"/>
          <p:nvPr>
            <p:ph idx="1" type="subTitle"/>
          </p:nvPr>
        </p:nvSpPr>
        <p:spPr>
          <a:xfrm>
            <a:off x="3153525" y="1800750"/>
            <a:ext cx="2523300" cy="2111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9pPr>
          </a:lstStyle>
          <a:p/>
        </p:txBody>
      </p:sp>
      <p:sp>
        <p:nvSpPr>
          <p:cNvPr id="25" name="Google Shape;25;p45"/>
          <p:cNvSpPr txBox="1"/>
          <p:nvPr>
            <p:ph idx="2" type="subTitle"/>
          </p:nvPr>
        </p:nvSpPr>
        <p:spPr>
          <a:xfrm>
            <a:off x="3153525" y="4011203"/>
            <a:ext cx="1894500" cy="106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90CCFA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90CCFA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90CCFA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90CCFA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90CCFA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90CCFA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90CCFA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90CCFA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90CCFA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9pPr>
          </a:lstStyle>
          <a:p/>
        </p:txBody>
      </p:sp>
      <p:pic>
        <p:nvPicPr>
          <p:cNvPr id="26" name="Google Shape;26;p4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450000" y="4545630"/>
            <a:ext cx="476544" cy="5043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692">
          <p15:clr>
            <a:srgbClr val="FA7B17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body slide 1">
  <p:cSld name="Title &amp; body slide 1">
    <p:bg>
      <p:bgPr>
        <a:solidFill>
          <a:srgbClr val="252525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6"/>
          <p:cNvSpPr/>
          <p:nvPr/>
        </p:nvSpPr>
        <p:spPr>
          <a:xfrm>
            <a:off x="0" y="0"/>
            <a:ext cx="7115100" cy="5143500"/>
          </a:xfrm>
          <a:prstGeom prst="parallelogram">
            <a:avLst>
              <a:gd fmla="val 25000" name="adj"/>
            </a:avLst>
          </a:prstGeom>
          <a:solidFill>
            <a:srgbClr val="17458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46"/>
          <p:cNvSpPr txBox="1"/>
          <p:nvPr>
            <p:ph type="title"/>
          </p:nvPr>
        </p:nvSpPr>
        <p:spPr>
          <a:xfrm>
            <a:off x="1285900" y="458225"/>
            <a:ext cx="4736700" cy="269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Montserrat"/>
              <a:buNone/>
              <a:defRPr b="1" sz="4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Montserrat"/>
              <a:buNone/>
              <a:defRPr sz="3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Montserrat"/>
              <a:buNone/>
              <a:defRPr sz="3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Montserrat"/>
              <a:buNone/>
              <a:defRPr sz="3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Montserrat"/>
              <a:buNone/>
              <a:defRPr sz="3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Montserrat"/>
              <a:buNone/>
              <a:defRPr sz="3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Montserrat"/>
              <a:buNone/>
              <a:defRPr sz="3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Montserrat"/>
              <a:buNone/>
              <a:defRPr sz="3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Montserrat"/>
              <a:buNone/>
              <a:defRPr sz="3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30" name="Google Shape;30;p46"/>
          <p:cNvSpPr txBox="1"/>
          <p:nvPr>
            <p:ph idx="1" type="subTitle"/>
          </p:nvPr>
        </p:nvSpPr>
        <p:spPr>
          <a:xfrm>
            <a:off x="1285900" y="2963125"/>
            <a:ext cx="3961500" cy="106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90CCFA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90CCFA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90CCFA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90CCFA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90CCFA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90CCFA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90CCFA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90CCFA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90CCFA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9pPr>
          </a:lstStyle>
          <a:p/>
        </p:txBody>
      </p:sp>
      <p:pic>
        <p:nvPicPr>
          <p:cNvPr id="31" name="Google Shape;31;p4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450000" y="4545630"/>
            <a:ext cx="476544" cy="5043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noFill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1"/>
          <p:cNvSpPr txBox="1"/>
          <p:nvPr>
            <p:ph type="title"/>
          </p:nvPr>
        </p:nvSpPr>
        <p:spPr>
          <a:xfrm>
            <a:off x="1068100" y="9334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3300"/>
              <a:buFont typeface="Montserrat ExtraBold"/>
              <a:buNone/>
              <a:defRPr b="0" i="0" sz="3300" u="none" cap="none" strike="noStrike">
                <a:solidFill>
                  <a:srgbClr val="20202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3300"/>
              <a:buFont typeface="Montserrat ExtraBold"/>
              <a:buNone/>
              <a:defRPr b="0" i="0" sz="3300" u="none" cap="none" strike="noStrike">
                <a:solidFill>
                  <a:srgbClr val="20202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3300"/>
              <a:buFont typeface="Montserrat ExtraBold"/>
              <a:buNone/>
              <a:defRPr b="0" i="0" sz="3300" u="none" cap="none" strike="noStrike">
                <a:solidFill>
                  <a:srgbClr val="20202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3300"/>
              <a:buFont typeface="Montserrat ExtraBold"/>
              <a:buNone/>
              <a:defRPr b="0" i="0" sz="3300" u="none" cap="none" strike="noStrike">
                <a:solidFill>
                  <a:srgbClr val="20202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3300"/>
              <a:buFont typeface="Montserrat ExtraBold"/>
              <a:buNone/>
              <a:defRPr b="0" i="0" sz="3300" u="none" cap="none" strike="noStrike">
                <a:solidFill>
                  <a:srgbClr val="20202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3300"/>
              <a:buFont typeface="Montserrat ExtraBold"/>
              <a:buNone/>
              <a:defRPr b="0" i="0" sz="3300" u="none" cap="none" strike="noStrike">
                <a:solidFill>
                  <a:srgbClr val="20202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3300"/>
              <a:buFont typeface="Montserrat ExtraBold"/>
              <a:buNone/>
              <a:defRPr b="0" i="0" sz="3300" u="none" cap="none" strike="noStrike">
                <a:solidFill>
                  <a:srgbClr val="20202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3300"/>
              <a:buFont typeface="Montserrat ExtraBold"/>
              <a:buNone/>
              <a:defRPr b="0" i="0" sz="3300" u="none" cap="none" strike="noStrike">
                <a:solidFill>
                  <a:srgbClr val="20202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3300"/>
              <a:buFont typeface="Montserrat ExtraBold"/>
              <a:buNone/>
              <a:defRPr b="0" i="0" sz="3300" u="none" cap="none" strike="noStrike">
                <a:solidFill>
                  <a:srgbClr val="20202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/>
        </p:txBody>
      </p:sp>
      <p:sp>
        <p:nvSpPr>
          <p:cNvPr id="7" name="Google Shape;7;p41"/>
          <p:cNvSpPr txBox="1"/>
          <p:nvPr>
            <p:ph idx="1" type="body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Spectral Light"/>
              <a:buChar char="●"/>
              <a:defRPr b="0" i="0" sz="1400" u="none" cap="none" strike="noStrike">
                <a:solidFill>
                  <a:srgbClr val="666666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Spectral Light"/>
              <a:buChar char="○"/>
              <a:defRPr b="0" i="0" sz="1400" u="none" cap="none" strike="noStrike">
                <a:solidFill>
                  <a:srgbClr val="666666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Spectral Light"/>
              <a:buChar char="■"/>
              <a:defRPr b="0" i="0" sz="1400" u="none" cap="none" strike="noStrike">
                <a:solidFill>
                  <a:srgbClr val="666666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Spectral Light"/>
              <a:buChar char="●"/>
              <a:defRPr b="0" i="0" sz="1400" u="none" cap="none" strike="noStrike">
                <a:solidFill>
                  <a:srgbClr val="666666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Spectral Light"/>
              <a:buChar char="○"/>
              <a:defRPr b="0" i="0" sz="1400" u="none" cap="none" strike="noStrike">
                <a:solidFill>
                  <a:srgbClr val="666666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Spectral Light"/>
              <a:buChar char="■"/>
              <a:defRPr b="0" i="0" sz="1400" u="none" cap="none" strike="noStrike">
                <a:solidFill>
                  <a:srgbClr val="666666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Spectral Light"/>
              <a:buChar char="●"/>
              <a:defRPr b="0" i="0" sz="1400" u="none" cap="none" strike="noStrike">
                <a:solidFill>
                  <a:srgbClr val="666666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Spectral Light"/>
              <a:buChar char="○"/>
              <a:defRPr b="0" i="0" sz="1400" u="none" cap="none" strike="noStrike">
                <a:solidFill>
                  <a:srgbClr val="666666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Spectral Light"/>
              <a:buChar char="■"/>
              <a:defRPr b="0" i="0" sz="1400" u="none" cap="none" strike="noStrike">
                <a:solidFill>
                  <a:srgbClr val="666666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jpg"/><Relationship Id="rId4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Relationship Id="rId4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7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0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8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1.png"/><Relationship Id="rId4" Type="http://schemas.openxmlformats.org/officeDocument/2006/relationships/image" Target="../media/image13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8.jp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6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5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7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hyperlink" Target="https://www.facom.ufu.br/~ronaldooliveira/PDS-2019-1/Aula6-ModeloRequisitos.pdf" TargetMode="Externa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hyperlink" Target="http://www.inf.ufes.br/~jssalamon/wp-content/uploads/disciplinas/engreq/slides/Slide%202%20-%20Introdu%C3%A7%C3%A3o%20%C3%A0%20Engenharia%20de%20Requisitos.pdf" TargetMode="Externa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Google Shape;36;p1"/>
          <p:cNvPicPr preferRelativeResize="0"/>
          <p:nvPr/>
        </p:nvPicPr>
        <p:blipFill rotWithShape="1">
          <a:blip r:embed="rId3">
            <a:alphaModFix/>
          </a:blip>
          <a:srcRect b="17473" l="13106" r="3517" t="15680"/>
          <a:stretch/>
        </p:blipFill>
        <p:spPr>
          <a:xfrm>
            <a:off x="1198475" y="534325"/>
            <a:ext cx="7624521" cy="4074852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1"/>
          <p:cNvSpPr txBox="1"/>
          <p:nvPr>
            <p:ph type="ctrTitle"/>
          </p:nvPr>
        </p:nvSpPr>
        <p:spPr>
          <a:xfrm>
            <a:off x="1483987" y="1323568"/>
            <a:ext cx="7780154" cy="249636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4600"/>
              <a:buNone/>
            </a:pPr>
            <a:r>
              <a:rPr lang="pt-BR" sz="6000">
                <a:solidFill>
                  <a:srgbClr val="174584"/>
                </a:solidFill>
              </a:rPr>
              <a:t>Engenharia de Requisitos</a:t>
            </a:r>
            <a:br>
              <a:rPr lang="pt-BR" sz="6000">
                <a:solidFill>
                  <a:srgbClr val="174584"/>
                </a:solidFill>
              </a:rPr>
            </a:br>
            <a:br>
              <a:rPr lang="pt-BR" sz="3200">
                <a:solidFill>
                  <a:srgbClr val="174584"/>
                </a:solidFill>
              </a:rPr>
            </a:br>
            <a:r>
              <a:rPr lang="pt-BR" sz="3200">
                <a:solidFill>
                  <a:srgbClr val="174584"/>
                </a:solidFill>
              </a:rPr>
              <a:t>				Tarik Ponciano</a:t>
            </a:r>
            <a:endParaRPr/>
          </a:p>
        </p:txBody>
      </p:sp>
      <p:pic>
        <p:nvPicPr>
          <p:cNvPr id="38" name="Google Shape;38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88377" y="4333164"/>
            <a:ext cx="1571756" cy="5092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"/>
          <p:cNvSpPr txBox="1"/>
          <p:nvPr/>
        </p:nvSpPr>
        <p:spPr>
          <a:xfrm>
            <a:off x="1669925" y="539626"/>
            <a:ext cx="794226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Engenharia de Requisitos</a:t>
            </a:r>
            <a:endParaRPr b="1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4" name="Google Shape;44;p2"/>
          <p:cNvSpPr txBox="1"/>
          <p:nvPr/>
        </p:nvSpPr>
        <p:spPr>
          <a:xfrm>
            <a:off x="1669925" y="1263699"/>
            <a:ext cx="6759910" cy="28623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Os requisitos de um sistema são as descrições do que o sistema deve fazer, os serviços que oferece e as restrições a seu funcionamento.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Esses requisitos refletem as necessidades dos clientes para um sistema que serve a uma finalidade determinada, como controlar um dispositivo, colocar um pedido ou encontrar informações.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 processo de descobrir, analisar, documentar e verificar esses serviços e restrições é chamado engenharia de requisitos (RE, do inglês requirements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engineering).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"/>
          <p:cNvSpPr txBox="1"/>
          <p:nvPr/>
        </p:nvSpPr>
        <p:spPr>
          <a:xfrm>
            <a:off x="1669925" y="539626"/>
            <a:ext cx="794226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Engenharia de Requisitos</a:t>
            </a:r>
            <a:endParaRPr b="1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0" name="Google Shape;50;p3"/>
          <p:cNvSpPr txBox="1"/>
          <p:nvPr/>
        </p:nvSpPr>
        <p:spPr>
          <a:xfrm>
            <a:off x="1669925" y="1243676"/>
            <a:ext cx="6759910" cy="31700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 termo 'requisito’ não é usado de forma consistente pela indústria de software. Em alguns casos, o requisito é apenas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uma declaração abstrata em alto nível de um serviço que o sistema deve oferecer ou uma restrição a um sistema. 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outro extremo, é uma definição detalhada e formal de uma função do sistema. 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Podemos usar os termos “requisitos de usuário” e “requisitos de sistema” para expressar essa diferença de detalhamento.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"/>
          <p:cNvSpPr txBox="1"/>
          <p:nvPr/>
        </p:nvSpPr>
        <p:spPr>
          <a:xfrm>
            <a:off x="1669925" y="539626"/>
            <a:ext cx="794226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Engenharia de Requisitos</a:t>
            </a:r>
            <a:endParaRPr b="1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6" name="Google Shape;56;p4"/>
          <p:cNvSpPr txBox="1"/>
          <p:nvPr/>
        </p:nvSpPr>
        <p:spPr>
          <a:xfrm>
            <a:off x="1669925" y="1163582"/>
            <a:ext cx="6759910" cy="3477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</a:t>
            </a:r>
            <a:r>
              <a:rPr b="1" i="0" lang="pt-BR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Requisitos de usuário</a:t>
            </a:r>
            <a:r>
              <a:rPr b="0" i="0" lang="pt-BR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são declarações, em uma linguagem natural com diagramas, de quais serviços o sistema deverá fornecer a seus usuários e as restrições com as quais este deve operar.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</a:t>
            </a:r>
            <a:r>
              <a:rPr b="1" i="0" lang="pt-BR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Requisitos de sistema</a:t>
            </a:r>
            <a:r>
              <a:rPr b="0" i="0" lang="pt-BR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são descrições mais detalhadas das funções, serviços e restrições operacionais do sistema de software. O documento de requisitos do sistema (às vezes, chamado especificação funcional) deve definir exatamente o que deve ser implementado. Pode ser parte do contrato entre o comprador do sistema e os desenvolvedores de software.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5"/>
          <p:cNvSpPr txBox="1"/>
          <p:nvPr/>
        </p:nvSpPr>
        <p:spPr>
          <a:xfrm>
            <a:off x="1669925" y="539626"/>
            <a:ext cx="794226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Engenharia de Requisitos</a:t>
            </a:r>
            <a:endParaRPr b="1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2" name="Google Shape;62;p5"/>
          <p:cNvSpPr txBox="1"/>
          <p:nvPr/>
        </p:nvSpPr>
        <p:spPr>
          <a:xfrm>
            <a:off x="1669925" y="1163582"/>
            <a:ext cx="6759910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Diferentes níveis de requisitos são úteis, pois eles comunicam informações sobre o sistema para diferentes tipos de leitor.</a:t>
            </a:r>
            <a:endParaRPr/>
          </a:p>
        </p:txBody>
      </p:sp>
      <p:sp>
        <p:nvSpPr>
          <p:cNvPr id="63" name="Google Shape;63;p5"/>
          <p:cNvSpPr txBox="1"/>
          <p:nvPr/>
        </p:nvSpPr>
        <p:spPr>
          <a:xfrm>
            <a:off x="1669925" y="2033759"/>
            <a:ext cx="7193748" cy="25545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Os leitores dos requisitos de usuário não costumam se preocupar com a forma como o sistema será implementado; podem ser gerentes que não estão interessados nos recursos detalhados do sistema.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Os leitores dos requisitos de sistema precisam saber mais detalhadamente o que o sistema fará, porque estão interessados em como ele apoiará os processos dos negócios ou porque estão envolvidos na implementação do sistema.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6"/>
          <p:cNvSpPr txBox="1"/>
          <p:nvPr/>
        </p:nvSpPr>
        <p:spPr>
          <a:xfrm>
            <a:off x="1669925" y="539626"/>
            <a:ext cx="794226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Engenharia de Requisitos</a:t>
            </a:r>
            <a:endParaRPr b="1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9" name="Google Shape;6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86451" y="1001291"/>
            <a:ext cx="2672315" cy="3928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72425" y="1924621"/>
            <a:ext cx="4417053" cy="22213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7"/>
          <p:cNvSpPr txBox="1"/>
          <p:nvPr/>
        </p:nvSpPr>
        <p:spPr>
          <a:xfrm>
            <a:off x="1669925" y="539626"/>
            <a:ext cx="794226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Engenharia de Requisitos</a:t>
            </a:r>
            <a:endParaRPr b="1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6" name="Google Shape;76;p7"/>
          <p:cNvSpPr txBox="1"/>
          <p:nvPr/>
        </p:nvSpPr>
        <p:spPr>
          <a:xfrm>
            <a:off x="1669925" y="1295719"/>
            <a:ext cx="6779932" cy="35394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Requisitos funcionais: São declarações de serviços que o sistema deve fornecer, de como o sistema deve reagir a entradas específicas e de como o sistema deve se comportar em determinadas situações. Em alguns casos, os requisitos funcionais também podem explicitar o que o sistema não deve fazer.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Requisitos não funcionais: São restrições aos serviços ou funções oferecidos pelo sistema. Incluem restrições de timing, restrições no processo de desenvolvimento e restrições impostas pelas normas. Ao contrário das características individuais ou serviços do sistema, os requisitos não funcionais, muitas vezes, aplicam-se ao sistema como um todo.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Regras de negócio: São definidas como diretrizes ou restrições que especificam como um sistema deve funcionar para atender aos requisitos e objetivos de negócio de uma organização. Essas regras são derivadas das necessidades e políticas do negócio e desempenham um papel crucial na definição do comportamento do sistema.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"/>
          <p:cNvSpPr txBox="1"/>
          <p:nvPr/>
        </p:nvSpPr>
        <p:spPr>
          <a:xfrm>
            <a:off x="1669925" y="539626"/>
            <a:ext cx="794226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Engenharia de Requisitos</a:t>
            </a:r>
            <a:endParaRPr b="1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2" name="Google Shape;82;p8"/>
          <p:cNvSpPr txBox="1"/>
          <p:nvPr/>
        </p:nvSpPr>
        <p:spPr>
          <a:xfrm>
            <a:off x="1669925" y="1295719"/>
            <a:ext cx="6779932" cy="31085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Na realidade, a distinção entre diferentes tipos de requisitos não é tão clara como sugerem essas definições simples. Um requisito de usuário relacionado com a proteção, tal como uma declaração de limitação de acesso a usuários autorizados, pode parecer um requisito não funcional.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 entanto, quando desenvolvido em mais detalhes, esse requisito pode gerar outros requisitos, claramente funcionais, como a necessidade de incluir recursos de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autenticação de usuário no sistema.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Isso mostra que os requisitos não são independentes e que muitas vezes geram ou restringem outros requisitos. Portanto, os requisitos de sistema não apenas especificam os serviços ou as características necessárias ao sistema, mas também a funcionalidade necessária para garantir que esses serviços/características sejam entregues corretamente.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9"/>
          <p:cNvSpPr txBox="1"/>
          <p:nvPr/>
        </p:nvSpPr>
        <p:spPr>
          <a:xfrm>
            <a:off x="1669925" y="539626"/>
            <a:ext cx="794226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Requisitos Funcionais</a:t>
            </a:r>
            <a:endParaRPr b="1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8" name="Google Shape;88;p9"/>
          <p:cNvSpPr txBox="1"/>
          <p:nvPr/>
        </p:nvSpPr>
        <p:spPr>
          <a:xfrm>
            <a:off x="1669925" y="1295719"/>
            <a:ext cx="6779932" cy="2677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Os requisitos funcionais descrevem as funcionalidades específicas que o sistema deve fornecer para atender às necessidades do usuário e do negócio.</a:t>
            </a:r>
            <a:endParaRPr/>
          </a:p>
          <a:p>
            <a:pPr indent="-1968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Eles definem o comportamento do sistema em termos de entradas, saídas e processamento de dados.</a:t>
            </a:r>
            <a:endParaRPr/>
          </a:p>
          <a:p>
            <a:pPr indent="-1968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Exemplos de requisitos funcionais incluem a capacidade de um sistema de cadastro de clientes de permitir que os usuários criem novas contas, a funcionalidade de um sistema de reservas online que permite aos usuários selecionar e reservar hotéis e a capacidade de um sistema de folha de pagamento de calcular os salários dos funcionários com base em diferentes critérios.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0"/>
          <p:cNvSpPr txBox="1"/>
          <p:nvPr/>
        </p:nvSpPr>
        <p:spPr>
          <a:xfrm>
            <a:off x="1669925" y="539626"/>
            <a:ext cx="794226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Requisitos Funcionais</a:t>
            </a:r>
            <a:endParaRPr b="1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4" name="Google Shape;94;p10"/>
          <p:cNvSpPr txBox="1"/>
          <p:nvPr/>
        </p:nvSpPr>
        <p:spPr>
          <a:xfrm>
            <a:off x="1669925" y="1295719"/>
            <a:ext cx="6779932" cy="24622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Sistema de Gerenciamento de Biblioteca:</a:t>
            </a:r>
            <a:endParaRPr/>
          </a:p>
          <a:p>
            <a:pPr indent="-1968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RF1: Permitir que os usuários façam login em suas contas.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RF2: Permitir que os usuários pesquisem livros por título, autor ou categoria.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RF3: Permitir que os usuários solicitem empréstimos de livros disponíveis.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RF4: Permitir que os administradores adicionem, removam ou atualizem informações sobre livros, como título, autor e disponibilidade.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RF5: Enviar notificações por e-mail aos usuários sobre datas de devolução e reservas de livros.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RF6: Gerar relatórios de estatísticas de empréstimos, como livros mais populares e usuários mais ativos.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1"/>
          <p:cNvSpPr txBox="1"/>
          <p:nvPr/>
        </p:nvSpPr>
        <p:spPr>
          <a:xfrm>
            <a:off x="1669925" y="539626"/>
            <a:ext cx="794226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Requisitos Funcionais</a:t>
            </a:r>
            <a:endParaRPr b="1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0" name="Google Shape;100;p11"/>
          <p:cNvSpPr txBox="1"/>
          <p:nvPr/>
        </p:nvSpPr>
        <p:spPr>
          <a:xfrm>
            <a:off x="1669925" y="1295719"/>
            <a:ext cx="6779932" cy="22467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Sistema de Reservas de Voo:</a:t>
            </a:r>
            <a:endParaRPr/>
          </a:p>
          <a:p>
            <a:pPr indent="-1968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RF1: Permitir que os usuários pesquisem voos por origem, destino e data.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RF2: Permitir que os usuários visualizem detalhes dos voos, como horário de partida, horário de chegada e preço.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RF3: Permitir que os usuários selecionem voos e reservem assentos.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RF4: Integrar um sistema de pagamento para processar reservas de voos.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RF5: Enviar confirmações de reserva por e-mail aos usuários.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RF6: Permitir que os usuários cancelem ou modifiquem suas reservas dentro de um determinado período de tempo antes do voo.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2"/>
          <p:cNvSpPr txBox="1"/>
          <p:nvPr/>
        </p:nvSpPr>
        <p:spPr>
          <a:xfrm>
            <a:off x="1669925" y="539626"/>
            <a:ext cx="794226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Requisitos Funcionais</a:t>
            </a:r>
            <a:endParaRPr b="1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6" name="Google Shape;106;p12"/>
          <p:cNvSpPr txBox="1"/>
          <p:nvPr/>
        </p:nvSpPr>
        <p:spPr>
          <a:xfrm>
            <a:off x="1669925" y="1295719"/>
            <a:ext cx="6779932" cy="2031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Sistema de Gestão de Restaurante:</a:t>
            </a:r>
            <a:endParaRPr/>
          </a:p>
          <a:p>
            <a:pPr indent="-1968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RF1: Permitir que os clientes visualizem o menu do restaurante.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RF2: Permitir que os clientes façam pedidos de alimentos e bebidas.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RF3: Permitir que os garçons recebam e processem pedidos dos clientes.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RF4: Permitir que os chefs recebam e preparem pedidos na cozinha.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RF5: Manter um registro de estoque de ingredientes e atualizá-lo automaticamente com base nos pedidos recebidos.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RF6: Gerar recibos e contas para os clientes no final da refeição.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3"/>
          <p:cNvSpPr txBox="1"/>
          <p:nvPr/>
        </p:nvSpPr>
        <p:spPr>
          <a:xfrm>
            <a:off x="1669925" y="539626"/>
            <a:ext cx="794226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Requisitos Não-Funcionais</a:t>
            </a:r>
            <a:endParaRPr b="1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2" name="Google Shape;112;p13"/>
          <p:cNvSpPr txBox="1"/>
          <p:nvPr/>
        </p:nvSpPr>
        <p:spPr>
          <a:xfrm>
            <a:off x="1669925" y="1295719"/>
            <a:ext cx="6779932" cy="33239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Os requisitos não-funcionais especificam os atributos de qualidade do sistema, como desempenho, segurança, usabilidade e escalabilidade.</a:t>
            </a:r>
            <a:endParaRPr/>
          </a:p>
          <a:p>
            <a:pPr indent="-1968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Eles descrevem as características do sistema que não estão diretamente relacionadas à funcionalidade específica do negócio, mas que são igualmente importantes para a eficácia e utilidade do sistema.</a:t>
            </a:r>
            <a:endParaRPr/>
          </a:p>
          <a:p>
            <a:pPr indent="-1968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Os requisitos não-funcionais geralmente se aplicam a todo o sistema e têm um impacto transversal em várias áreas.</a:t>
            </a:r>
            <a:endParaRPr/>
          </a:p>
          <a:p>
            <a:pPr indent="-1968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Exemplos de requisitos não-funcionais incluem requisitos de desempenho (tempo de resposta, escalabilidade), requisitos de segurança (autenticação, autorização), requisitos de usabilidade (facilidade de uso, acessibilidade) e requisitos de manutenibilidade (facilidade de manutenção, modularidade do código).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4"/>
          <p:cNvSpPr txBox="1"/>
          <p:nvPr/>
        </p:nvSpPr>
        <p:spPr>
          <a:xfrm>
            <a:off x="1669925" y="539626"/>
            <a:ext cx="794226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Requisitos Não-Funcionais</a:t>
            </a:r>
            <a:endParaRPr b="1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18" name="Google Shape;118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69925" y="1195599"/>
            <a:ext cx="7209455" cy="35432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5"/>
          <p:cNvSpPr txBox="1"/>
          <p:nvPr/>
        </p:nvSpPr>
        <p:spPr>
          <a:xfrm>
            <a:off x="1669925" y="539626"/>
            <a:ext cx="794226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Requisitos Não-Funcionais</a:t>
            </a:r>
            <a:endParaRPr b="1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1669925" y="1295719"/>
            <a:ext cx="6779932" cy="35394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400" u="none" cap="none" strike="noStrik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Desempenho: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D0D0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RNF1: O sistema deve ser capaz de lidar com 1000 transações por minuto durante os horários de pico.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RNF2: O tempo de resposta para qualquer ação do usuário não deve exceder 2 segundos.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RNF3: O sistema deve ser escalável para suportar um aumento de 50% na carga de trabalho dentro de um ano.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D0D0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400" u="none" cap="none" strike="noStrik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Segurança: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D0D0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RNF4: Todos os dados do usuário devem ser armazenados de forma criptografada no banco de dados.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RNF5: O sistema deve implementar autenticação de dois fatores para acesso dos usuários.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RNF6: O acesso às funcionalidades administrativas deve ser restrito a usuários autorizados por meio de controle de acesso baseado em papéis.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D0D0D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6"/>
          <p:cNvSpPr txBox="1"/>
          <p:nvPr/>
        </p:nvSpPr>
        <p:spPr>
          <a:xfrm>
            <a:off x="1669925" y="539626"/>
            <a:ext cx="794226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Requisitos Não-Funcionais</a:t>
            </a:r>
            <a:endParaRPr b="1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0" name="Google Shape;130;p16"/>
          <p:cNvSpPr txBox="1"/>
          <p:nvPr/>
        </p:nvSpPr>
        <p:spPr>
          <a:xfrm>
            <a:off x="1669925" y="1173182"/>
            <a:ext cx="6779932" cy="39703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400" u="none" cap="none" strike="noStrik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Usabilidade: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D0D0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RNF7: O sistema deve ser intuitivo e fácil de usar, com uma curva de aprendizado de no máximo 15 minutos para novos usuários.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RNF8: O sistema deve ser acessível para usuários com deficiências visuais, seguindo as diretrizes de acessibilidade WCAG 2.1.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RNF9: O design da interface do usuário deve ser consistente em todas as telas e seguir as melhores práticas de design de UX.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D0D0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400" u="none" cap="none" strike="noStrik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Confiabilidade: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D0D0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RNF10: O sistema deve ter um tempo médio entre falhas (MTBF) de pelo menos 1000 horas.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RNF11: Deve haver backups diários dos dados do sistema, com capacidade de recuperação em caso de falha.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RNF12: O sistema deve ser capaz de detectar e corrigir automaticamente erros não críticos sem a intervenção do usuário.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D0D0D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7"/>
          <p:cNvSpPr txBox="1"/>
          <p:nvPr/>
        </p:nvSpPr>
        <p:spPr>
          <a:xfrm>
            <a:off x="1669925" y="539626"/>
            <a:ext cx="794226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Requisitos Não-Funcionais</a:t>
            </a:r>
            <a:endParaRPr b="1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6" name="Google Shape;136;p17"/>
          <p:cNvSpPr txBox="1"/>
          <p:nvPr/>
        </p:nvSpPr>
        <p:spPr>
          <a:xfrm>
            <a:off x="1669925" y="1173182"/>
            <a:ext cx="6779932" cy="39703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400" u="none" cap="none" strike="noStrik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Manutenibilidade: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D0D0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RNF13: O código-fonte do sistema deve ser bem documentado e seguir padrões de codificação definidos.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RNF14: As atualizações de software devem ser fáceis de implantar e não devem interromper o funcionamento do sistema.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RNF15: O sistema deve ser modular e extensível, permitindo a adição de novas funcionalidades com o mínimo de impacto nas partes existentes.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D0D0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400" u="none" cap="none" strike="noStrik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Compatibilidade: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D0D0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RNF16: O sistema deve ser compatível com os principais navegadores da web (Chrome, Firefox, Safari, Edge) nas versões mais recentes.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RNF17: O sistema deve ser compatível com diferentes sistemas operacionais, como Windows, macOS e Linux.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RNF18: O sistema deve ser capaz de se integrar facilmente a sistemas de terceiros por meio de APIs bem documentadas.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D0D0D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8"/>
          <p:cNvSpPr txBox="1"/>
          <p:nvPr/>
        </p:nvSpPr>
        <p:spPr>
          <a:xfrm>
            <a:off x="1669925" y="539626"/>
            <a:ext cx="794226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Regras de Negócio</a:t>
            </a:r>
            <a:endParaRPr b="1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2" name="Google Shape;142;p18"/>
          <p:cNvSpPr txBox="1"/>
          <p:nvPr/>
        </p:nvSpPr>
        <p:spPr>
          <a:xfrm>
            <a:off x="1669925" y="1295719"/>
            <a:ext cx="6779932" cy="28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 regras de negócio descrevem as restrições, políticas e diretrizes específicas que regem o comportamento do sistema em relação aos processos e operações do negócio.</a:t>
            </a:r>
            <a:endParaRPr/>
          </a:p>
          <a:p>
            <a:pPr indent="-1968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Elas se concentram em definir como o sistema deve funcionar para atender às necessidades e objetivos do negócio.</a:t>
            </a:r>
            <a:endParaRPr/>
          </a:p>
          <a:p>
            <a:pPr indent="-1968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Geralmente, as regras de negócio são derivadas dos requisitos e objetivos do negócio, e são voltadas para a lógica de negócio do sistema.</a:t>
            </a:r>
            <a:endParaRPr/>
          </a:p>
          <a:p>
            <a:pPr indent="-1968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Exemplos de regras de negócio incluem políticas de segurança, validações de dados, processos de negócio e cálculos específicos relacionados aos aspectos operacionais do negócio.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9"/>
          <p:cNvSpPr txBox="1"/>
          <p:nvPr/>
        </p:nvSpPr>
        <p:spPr>
          <a:xfrm>
            <a:off x="1669925" y="539626"/>
            <a:ext cx="794226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Regras de Negócio</a:t>
            </a:r>
            <a:endParaRPr b="1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8" name="Google Shape;148;p19"/>
          <p:cNvSpPr txBox="1"/>
          <p:nvPr/>
        </p:nvSpPr>
        <p:spPr>
          <a:xfrm>
            <a:off x="1669925" y="1173182"/>
            <a:ext cx="6779932" cy="37548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400" u="none" cap="none" strike="noStrik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Políticas de Segurança: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D0D0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RN1: Todos os usuários devem autenticar-se usando credenciais válidas antes de acessar o sistema.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RN2: Os administradores têm permissão para acessar e modificar apenas os dados e configurações relevantes às suas responsabilidades.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RN3: As transações financeiras devem ser protegidas por meio de criptografia e mecanismos de autenticação adicionais.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D0D0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400" u="none" cap="none" strike="noStrik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Validação de Dados: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D0D0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RN4: Todos os campos obrigatórios em formulários devem ser preenchidos antes que os dados possam ser salvos no sistema.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RN5: As datas de nascimento dos clientes devem estar no formato DD/MM/AAAA e ser válidas.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RN6: O sistema não deve aceitar valores negativos em campos de quantidade ou preço.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D0D0D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0"/>
          <p:cNvSpPr txBox="1"/>
          <p:nvPr/>
        </p:nvSpPr>
        <p:spPr>
          <a:xfrm>
            <a:off x="1669925" y="539626"/>
            <a:ext cx="794226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Regras de Negócio</a:t>
            </a:r>
            <a:endParaRPr b="1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4" name="Google Shape;154;p20"/>
          <p:cNvSpPr txBox="1"/>
          <p:nvPr/>
        </p:nvSpPr>
        <p:spPr>
          <a:xfrm>
            <a:off x="1669925" y="1173182"/>
            <a:ext cx="6779932" cy="37548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400" u="none" cap="none" strike="noStrik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Regras de Negócio Específicas do Domínio: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D0D0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RN7: Um cliente só pode ter um único pedido de reserva de hotel ativo por vez.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RN8: Os clientes que adquirirem um plano de assinatura devem ter acesso ilimitado ao conteúdo durante o período da assinatura.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RN9: Os produtos em estoque devem ser automaticamente atualizados quando uma venda for concluída no sistema de PDV.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D0D0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400" u="none" cap="none" strike="noStrik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Políticas de Negócio: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D0D0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RN10: Os reembolsos só serão processados se solicitados dentro de 30 dias após a data da compra e se o produto estiver em condições adequadas.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RN11: Os funcionários devem solicitar aprovação de um gerente para despesas de viagem que excedam um determinado valor.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RN12: Os clientes que se cadastrarem em uma promoção devem receber um cupom de desconto de boas-vindas por e-mail.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D0D0D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1"/>
          <p:cNvSpPr txBox="1"/>
          <p:nvPr/>
        </p:nvSpPr>
        <p:spPr>
          <a:xfrm>
            <a:off x="1669925" y="539626"/>
            <a:ext cx="794226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Regras de Negócio</a:t>
            </a:r>
            <a:endParaRPr b="1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0" name="Google Shape;160;p21"/>
          <p:cNvSpPr txBox="1"/>
          <p:nvPr/>
        </p:nvSpPr>
        <p:spPr>
          <a:xfrm>
            <a:off x="1669925" y="1173182"/>
            <a:ext cx="6779932" cy="2031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400" u="none" cap="none" strike="noStrik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Restrições Regulatórias: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D0D0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RN13: O sistema deve reter os registros de transações financeiras por um período mínimo de 5 anos para estar em conformidade com regulamentações fiscais.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RN14: As transações de pagamento online devem seguir as normas de segurança PCI DSS para proteger os dados do cartão de crédito dos clientes.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RN15: Os dados pessoais dos clientes devem ser tratados de acordo com as leis de proteção de dados, como o GDPR na União Europeia.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D0D0D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2"/>
          <p:cNvSpPr txBox="1"/>
          <p:nvPr/>
        </p:nvSpPr>
        <p:spPr>
          <a:xfrm>
            <a:off x="1669925" y="539626"/>
            <a:ext cx="794226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Documento de Requisitos</a:t>
            </a:r>
            <a:endParaRPr b="1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6" name="Google Shape;166;p22"/>
          <p:cNvSpPr txBox="1"/>
          <p:nvPr/>
        </p:nvSpPr>
        <p:spPr>
          <a:xfrm>
            <a:off x="1669925" y="1295719"/>
            <a:ext cx="6779932" cy="22467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É uma declaração oficial de o que os desenvolvedores do sistema de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vem implementar. Deve incluir tanto os requisitos de usuário para um sistema quanto uma especificação detalhada dos requisitos de sistema.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Em alguns casos, os requisitos de usuário e de sistema são integrados em uma única descrição. Em outros, os requisitos de usuário são definidos em uma introdução à especificação de requisitos de sistema.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 houver um grande número de requisitos, os requisitos detalhados de sistema podem ser apresentados em um documento separado.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22"/>
          <p:cNvSpPr txBox="1"/>
          <p:nvPr/>
        </p:nvSpPr>
        <p:spPr>
          <a:xfrm>
            <a:off x="2075754" y="3836916"/>
            <a:ext cx="6153845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Os métodos ágeis de desenvolvimento argumentam que os requisitos mudam tão rapidamente que um documento de requisitos já está ultrapassado assim que termina de ser escrito. 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3"/>
          <p:cNvSpPr txBox="1"/>
          <p:nvPr/>
        </p:nvSpPr>
        <p:spPr>
          <a:xfrm>
            <a:off x="1669925" y="539626"/>
            <a:ext cx="794226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Documento de Requisitos</a:t>
            </a:r>
            <a:endParaRPr b="1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73" name="Google Shape;173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33133" y="1001291"/>
            <a:ext cx="2877733" cy="39775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4"/>
          <p:cNvSpPr txBox="1"/>
          <p:nvPr/>
        </p:nvSpPr>
        <p:spPr>
          <a:xfrm>
            <a:off x="1669925" y="539626"/>
            <a:ext cx="794226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Documento de Requisitos</a:t>
            </a:r>
            <a:endParaRPr b="1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79" name="Google Shape;179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93853" y="1001291"/>
            <a:ext cx="4480222" cy="41309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945045"/>
            <a:ext cx="9144000" cy="32534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Google Shape;189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3240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3153807"/>
            <a:ext cx="9144000" cy="15626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7"/>
          <p:cNvSpPr txBox="1"/>
          <p:nvPr/>
        </p:nvSpPr>
        <p:spPr>
          <a:xfrm>
            <a:off x="2286000" y="2314728"/>
            <a:ext cx="457200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https://www.facom.ufu.br/~ronaldooliveira/PDS-2019-1/Aula6-ModeloRequisitos.pdf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8"/>
          <p:cNvSpPr txBox="1"/>
          <p:nvPr/>
        </p:nvSpPr>
        <p:spPr>
          <a:xfrm>
            <a:off x="1669925" y="539626"/>
            <a:ext cx="794226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Especificação de Requisitos</a:t>
            </a:r>
            <a:endParaRPr b="1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1" name="Google Shape;201;p28"/>
          <p:cNvSpPr txBox="1"/>
          <p:nvPr/>
        </p:nvSpPr>
        <p:spPr>
          <a:xfrm>
            <a:off x="1669925" y="1295719"/>
            <a:ext cx="6779932" cy="18158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especificação de requisitos é o processo de escrever os requisitos de usuário e de sistema em um documento de requisitos. Idealmente, os requisitos de usuário e de sistema devem ser claros, inequívocos, de fácil compreensão, completos e consistentes.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Na prática, isso é difícil de conseguir, pois os stakeholders interpretam os requisitos</a:t>
            </a:r>
            <a:b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 maneiras diferentes, e, muitas vezes, notam-se conflitos e inconsistências inerentes aos requisitos.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Key Stakeholders in Agile Product Development - Exposit" id="202" name="Google Shape;202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34897" y="3111601"/>
            <a:ext cx="5109103" cy="19278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9"/>
          <p:cNvSpPr txBox="1"/>
          <p:nvPr/>
        </p:nvSpPr>
        <p:spPr>
          <a:xfrm>
            <a:off x="1669925" y="539626"/>
            <a:ext cx="794226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Especificação de Requisitos</a:t>
            </a:r>
            <a:endParaRPr b="1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08" name="Google Shape;208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69925" y="1325039"/>
            <a:ext cx="7168362" cy="32788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0"/>
          <p:cNvSpPr txBox="1"/>
          <p:nvPr/>
        </p:nvSpPr>
        <p:spPr>
          <a:xfrm>
            <a:off x="1669925" y="539626"/>
            <a:ext cx="794226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Especificação de Requisitos</a:t>
            </a:r>
            <a:endParaRPr b="1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4" name="Google Shape;214;p30"/>
          <p:cNvSpPr txBox="1"/>
          <p:nvPr/>
        </p:nvSpPr>
        <p:spPr>
          <a:xfrm>
            <a:off x="1669925" y="1295719"/>
            <a:ext cx="6779932" cy="35394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Invente um formato-padrão e garanta que todas as definições de requisitos aderem a esse formato. A padronização do formato torna menos prováveis as omissões e mais fácil a verificação dos requisitos. </a:t>
            </a:r>
            <a:endParaRPr/>
          </a:p>
          <a:p>
            <a:pPr indent="-2540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 uma linguagem consistente para distinguir entre os requisitos obrigatórios e os desejáveis. Os obrigatórios são requisitos aos quais o sistema tem de dar suporte e geralmente são escritos usando-se 'deve'. Requisitos desejáveis não são essenciais e são escritos usando-se 'pode'.</a:t>
            </a:r>
            <a:endParaRPr/>
          </a:p>
          <a:p>
            <a:pPr indent="-2540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 uma forma de destacar as partes fundamentais do requisito (negrito, itálico ou cores).</a:t>
            </a:r>
            <a:endParaRPr/>
          </a:p>
          <a:p>
            <a:pPr indent="-2540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Não assuma que os leitores compreendem a linguagem técnica da engenharia de software. Frequentemente, palavras como 'arquitetura‘ e 'módulo‘ são mal interpretadas. Você deve, portanto, evitar o uso de jargões, siglas e acrônimos.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1"/>
          <p:cNvSpPr txBox="1"/>
          <p:nvPr/>
        </p:nvSpPr>
        <p:spPr>
          <a:xfrm>
            <a:off x="1669925" y="539626"/>
            <a:ext cx="794226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Especificação de Requisitos</a:t>
            </a:r>
            <a:endParaRPr b="1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0" name="Google Shape;220;p31"/>
          <p:cNvSpPr/>
          <p:nvPr/>
        </p:nvSpPr>
        <p:spPr>
          <a:xfrm>
            <a:off x="1956317" y="1490230"/>
            <a:ext cx="6347927" cy="2677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3.2 O sistema deve medir o açúcar no sangue e fornecer insulina, se necessário, a cada dez minutos. (Mudanças de açúcar no sangue são relativamente lentas, portanto, medições mais frequentes são desnecessárias; medições menos frequentes podem levar a níveis de açúcar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desnecessariamente elevados.)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3.6 O sistema deve, a cada minuto, executar uma rotina de auto teste com as condições a serem testadas e as ações associadas definidas no Quadro 4.3 (A rotina de auto teste pode descobrir problemas de hardware e software e pode alertar o usuário para a impossibilidade de operar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normalmente.)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2"/>
          <p:cNvSpPr txBox="1"/>
          <p:nvPr/>
        </p:nvSpPr>
        <p:spPr>
          <a:xfrm>
            <a:off x="1669925" y="539626"/>
            <a:ext cx="794226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Especificação de Requisitos</a:t>
            </a:r>
            <a:endParaRPr b="1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6" name="Google Shape;226;p32"/>
          <p:cNvSpPr/>
          <p:nvPr/>
        </p:nvSpPr>
        <p:spPr>
          <a:xfrm>
            <a:off x="1956317" y="1490230"/>
            <a:ext cx="6347927" cy="31085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linguagem natural estruturada é uma forma de escrever os requisitos do sistema na qual a liberdade do escritor dos requisitos é limitada e todos os requisitos são escritos em uma forma-padrão.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Essa abordagem mantém grande parte da expressividade e compreensão da linguagem natural, mas garante certa uniformidade imposta sobre a especificação.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Notações de linguagem estruturada usam templates para especificar os requisitos de sistema.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especificação pode usar construções de linguagem de programação para mostrar alternativas e iteração; além disso, pode destacar elementos-chave pelo uso de sombreamento ou fontes diferentes.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3"/>
          <p:cNvSpPr txBox="1"/>
          <p:nvPr/>
        </p:nvSpPr>
        <p:spPr>
          <a:xfrm>
            <a:off x="1669925" y="539626"/>
            <a:ext cx="794226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Especificação de Requisitos</a:t>
            </a:r>
            <a:endParaRPr b="1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2" name="Google Shape;232;p33"/>
          <p:cNvSpPr/>
          <p:nvPr/>
        </p:nvSpPr>
        <p:spPr>
          <a:xfrm>
            <a:off x="1956317" y="1490230"/>
            <a:ext cx="6347927" cy="16004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Para usar uma abordagem estruturada para especificação de requisitos de sistema, você pode definir um ou mais templates para representar esses requisitos como formulários estruturados.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especificação pode ser estruturada em torno dos objetos manipulados pelo sistema, das funções desempenhadas pelo sistema, ou pelos eventos processados pelo sistema. 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4"/>
          <p:cNvSpPr txBox="1"/>
          <p:nvPr/>
        </p:nvSpPr>
        <p:spPr>
          <a:xfrm>
            <a:off x="1669925" y="539626"/>
            <a:ext cx="794226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Especificação de Requisitos</a:t>
            </a:r>
            <a:endParaRPr b="1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38" name="Google Shape;238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69925" y="1132114"/>
            <a:ext cx="7130513" cy="38255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5"/>
          <p:cNvSpPr txBox="1"/>
          <p:nvPr/>
        </p:nvSpPr>
        <p:spPr>
          <a:xfrm>
            <a:off x="1669925" y="539626"/>
            <a:ext cx="794226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Especificação de Requisitos</a:t>
            </a:r>
            <a:endParaRPr b="1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4" name="Google Shape;244;p35"/>
          <p:cNvSpPr/>
          <p:nvPr/>
        </p:nvSpPr>
        <p:spPr>
          <a:xfrm>
            <a:off x="2286000" y="1232922"/>
            <a:ext cx="6123992" cy="35394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descrição da função ou entidade a ser especificada.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40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Uma descrição de suas entradas e de onde elas vieram.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40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Uma descrição de suas saídas e para onde elas irão.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40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Informações sobre a informação necessária para o processamento ou outras entidades usadas no sistema (a parte 'requires').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40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Uma descrição da ação a ser tomada.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40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 uma abordagem funcional é usada, uma pré-condição define o que deve ser verdade antes que a função seja chamada, e é chamada uma pós-condição, especificando o que é verdade depois da função.</a:t>
            </a:r>
            <a:endParaRPr/>
          </a:p>
          <a:p>
            <a:pPr indent="-2540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Uma descrição dos efeitos colaterais da operação (caso haja algum).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6"/>
          <p:cNvSpPr txBox="1"/>
          <p:nvPr/>
        </p:nvSpPr>
        <p:spPr>
          <a:xfrm>
            <a:off x="1669925" y="539626"/>
            <a:ext cx="794226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Especificação de Requisitos</a:t>
            </a:r>
            <a:endParaRPr b="1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0" name="Google Shape;250;p36"/>
          <p:cNvSpPr/>
          <p:nvPr/>
        </p:nvSpPr>
        <p:spPr>
          <a:xfrm>
            <a:off x="1669925" y="1232922"/>
            <a:ext cx="6951561" cy="35394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Usar as especificações estruturadas elimina alguns dos problemas de especificação em linguagem natural.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Reduz-se a variabilidade na especificação, e os requisitos são organizados de forma mais eficaz.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 entanto, algumas vezes ainda é difícil escrever os requisitos de forma clara e inequívoca, especialmente quando processamentos complexos (como, por exemplo, calcular a dose de insulina) devem ser especificados.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Para resolver esse problema, você pode adicionar informações extras aos requisitos em linguagem natural.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Usando tabelas ou modelos gráficos do sistema, por exemplo. Estes podem mostrar como os cálculos são executados, como o sistema muda de estado, como os usuários interagem com o sistema e como sequências de ações são executadas.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7"/>
          <p:cNvSpPr txBox="1"/>
          <p:nvPr/>
        </p:nvSpPr>
        <p:spPr>
          <a:xfrm>
            <a:off x="1669925" y="539626"/>
            <a:ext cx="794226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Especificação de Requisitos</a:t>
            </a:r>
            <a:endParaRPr b="1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56" name="Google Shape;256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865" y="1822580"/>
            <a:ext cx="8971058" cy="21340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8"/>
          <p:cNvSpPr txBox="1"/>
          <p:nvPr/>
        </p:nvSpPr>
        <p:spPr>
          <a:xfrm>
            <a:off x="1669925" y="539626"/>
            <a:ext cx="794226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Vamos Treinar</a:t>
            </a:r>
            <a:endParaRPr b="1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2" name="Google Shape;262;p38"/>
          <p:cNvSpPr/>
          <p:nvPr/>
        </p:nvSpPr>
        <p:spPr>
          <a:xfrm>
            <a:off x="1669925" y="1232922"/>
            <a:ext cx="6951561" cy="41857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Utilizando um modelo para especificação de requisitos (Código, Nome, Prioridade, Descrição, Entradas e Saídas), crie o seguinte documento:</a:t>
            </a:r>
            <a:b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 Introdução (Descrição breve do projeto)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 Requisitos Funcionais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3. Requisitos Não-Funcionais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 Regras de Negócio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Sugestão de modelo: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Funcional e Não-Funcional &gt; </a:t>
            </a:r>
            <a:r>
              <a:rPr b="0" i="0" lang="pt-BR" sz="14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https://www.facom.ufu.br/~ronaldooliveira/PDS-2019-1/Aula6-ModeloRequisitos.pdf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Ou https://www2.ufjf.br/diavi//files/2016/07/DocumentosdeRequisitosdoSistema.pdf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Regras de Negócio &gt; https://www.alura.com.br/artigos/o-que-sao-regras-de-negocio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9"/>
          <p:cNvSpPr txBox="1"/>
          <p:nvPr>
            <p:ph type="title"/>
          </p:nvPr>
        </p:nvSpPr>
        <p:spPr>
          <a:xfrm>
            <a:off x="496300" y="355831"/>
            <a:ext cx="5016000" cy="676725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pt-BR"/>
              <a:t>Referências</a:t>
            </a:r>
            <a:endParaRPr/>
          </a:p>
        </p:txBody>
      </p:sp>
      <p:sp>
        <p:nvSpPr>
          <p:cNvPr id="268" name="Google Shape;268;p39"/>
          <p:cNvSpPr txBox="1"/>
          <p:nvPr>
            <p:ph idx="1" type="subTitle"/>
          </p:nvPr>
        </p:nvSpPr>
        <p:spPr>
          <a:xfrm>
            <a:off x="409533" y="1346911"/>
            <a:ext cx="6458480" cy="106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Engenharia de Software, Ian Sommerville</a:t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3"/>
              </a:rPr>
              <a:t>http://www.inf.ufes.br/~jssalamon/wp-content/uploads/disciplinas/engreq/slides/Slide%202%20-%20Introdu%C3%A7%C3%A3o%20%C3%A0%20Engenharia%20de%20Requisitos.pdf</a:t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https://slideplayer.com.br/slide/1594477/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40"/>
          <p:cNvSpPr txBox="1"/>
          <p:nvPr>
            <p:ph type="ctrTitle"/>
          </p:nvPr>
        </p:nvSpPr>
        <p:spPr>
          <a:xfrm>
            <a:off x="2106771" y="1852628"/>
            <a:ext cx="6135000" cy="115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pt-BR" sz="6400">
                <a:solidFill>
                  <a:srgbClr val="252525"/>
                </a:solidFill>
              </a:rPr>
              <a:t>Obrigado!!</a:t>
            </a:r>
            <a:endParaRPr sz="6400">
              <a:solidFill>
                <a:srgbClr val="174584"/>
              </a:solidFill>
            </a:endParaRPr>
          </a:p>
        </p:txBody>
      </p:sp>
      <p:pic>
        <p:nvPicPr>
          <p:cNvPr id="274" name="Google Shape;274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36160" y="3780429"/>
            <a:ext cx="1571756" cy="5092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Elegant Blue">
  <a:themeElements>
    <a:clrScheme name="Azul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Doraneide Albuquerque Fernandes</dc:creator>
</cp:coreProperties>
</file>
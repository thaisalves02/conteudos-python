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Montserrat SemiBold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Montserrat ExtraBold"/>
      <p:bold r:id="rId33"/>
      <p:boldItalic r:id="rId34"/>
    </p:embeddedFont>
    <p:embeddedFont>
      <p:font typeface="Spectral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7">
          <p15:clr>
            <a:srgbClr val="A4A3A4"/>
          </p15:clr>
        </p15:guide>
        <p15:guide id="2" pos="5558">
          <p15:clr>
            <a:srgbClr val="A4A3A4"/>
          </p15:clr>
        </p15:guide>
        <p15:guide id="3" pos="1304">
          <p15:clr>
            <a:srgbClr val="A4A3A4"/>
          </p15:clr>
        </p15:guide>
        <p15:guide id="4" orient="horz" pos="1620">
          <p15:clr>
            <a:srgbClr val="A4A3A4"/>
          </p15:clr>
        </p15:guide>
        <p15:guide id="5" orient="horz" pos="2623">
          <p15:clr>
            <a:srgbClr val="A4A3A4"/>
          </p15:clr>
        </p15:guide>
        <p15:guide id="6" pos="4320">
          <p15:clr>
            <a:srgbClr val="A4A3A4"/>
          </p15:clr>
        </p15:guide>
        <p15:guide id="7" pos="3118">
          <p15:clr>
            <a:srgbClr val="A4A3A4"/>
          </p15:clr>
        </p15:guide>
        <p15:guide id="8" pos="2976">
          <p15:clr>
            <a:srgbClr val="A4A3A4"/>
          </p15:clr>
        </p15:guide>
        <p15:guide id="9" orient="horz" pos="590">
          <p15:clr>
            <a:srgbClr val="A4A3A4"/>
          </p15:clr>
        </p15:guide>
        <p15:guide id="10" pos="2268">
          <p15:clr>
            <a:srgbClr val="A4A3A4"/>
          </p15:clr>
        </p15:guide>
        <p15:guide id="11" pos="3902">
          <p15:clr>
            <a:srgbClr val="A4A3A4"/>
          </p15:clr>
        </p15:guide>
        <p15:guide id="12" orient="horz" pos="1058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ji1kAdtRJTP4jiuZwItfKhyMZP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7" orient="horz"/>
        <p:guide pos="5558"/>
        <p:guide pos="1304"/>
        <p:guide pos="1620" orient="horz"/>
        <p:guide pos="2623" orient="horz"/>
        <p:guide pos="4320"/>
        <p:guide pos="3118"/>
        <p:guide pos="2976"/>
        <p:guide pos="590" orient="horz"/>
        <p:guide pos="2268"/>
        <p:guide pos="3902"/>
        <p:guide pos="105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bold.fntdata"/><Relationship Id="rId25" Type="http://schemas.openxmlformats.org/officeDocument/2006/relationships/font" Target="fonts/MontserratSemiBold-regular.fntdata"/><Relationship Id="rId28" Type="http://schemas.openxmlformats.org/officeDocument/2006/relationships/font" Target="fonts/MontserratSemiBold-boldItalic.fntdata"/><Relationship Id="rId27" Type="http://schemas.openxmlformats.org/officeDocument/2006/relationships/font" Target="fonts/Montserrat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MontserratExtraBold-bold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35" Type="http://schemas.openxmlformats.org/officeDocument/2006/relationships/font" Target="fonts/SpectralLight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Extra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SpectralLight-italic.fntdata"/><Relationship Id="rId14" Type="http://schemas.openxmlformats.org/officeDocument/2006/relationships/slide" Target="slides/slide9.xml"/><Relationship Id="rId36" Type="http://schemas.openxmlformats.org/officeDocument/2006/relationships/font" Target="fonts/SpectralLight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Spectral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1"/>
          <p:cNvSpPr txBox="1"/>
          <p:nvPr>
            <p:ph type="ctrTitle"/>
          </p:nvPr>
        </p:nvSpPr>
        <p:spPr>
          <a:xfrm>
            <a:off x="1516500" y="1001050"/>
            <a:ext cx="68091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  <a:defRPr sz="4600">
                <a:solidFill>
                  <a:srgbClr val="2525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" name="Google Shape;10;p21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1"/>
          <p:cNvSpPr txBox="1"/>
          <p:nvPr>
            <p:ph idx="1" type="subTitle"/>
          </p:nvPr>
        </p:nvSpPr>
        <p:spPr>
          <a:xfrm rot="-5400000">
            <a:off x="-1772935" y="1844264"/>
            <a:ext cx="49506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&amp; subtitle slide" type="secHead">
  <p:cSld name="SECTION_HEADER">
    <p:bg>
      <p:bgPr>
        <a:noFill/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2"/>
          <p:cNvSpPr txBox="1"/>
          <p:nvPr>
            <p:ph type="title"/>
          </p:nvPr>
        </p:nvSpPr>
        <p:spPr>
          <a:xfrm>
            <a:off x="1477425" y="2095075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" type="subTitle"/>
          </p:nvPr>
        </p:nvSpPr>
        <p:spPr>
          <a:xfrm>
            <a:off x="1477425" y="4030950"/>
            <a:ext cx="27702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sp>
        <p:nvSpPr>
          <p:cNvPr id="15" name="Google Shape;15;p22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5711" y="4555710"/>
            <a:ext cx="402793" cy="42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5322125" y="506525"/>
            <a:ext cx="3523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9pPr>
          </a:lstStyle>
          <a:p/>
        </p:txBody>
      </p:sp>
      <p:sp>
        <p:nvSpPr>
          <p:cNvPr id="19" name="Google Shape;19;p23"/>
          <p:cNvSpPr/>
          <p:nvPr/>
        </p:nvSpPr>
        <p:spPr>
          <a:xfrm rot="10800000">
            <a:off x="6556325" y="4516800"/>
            <a:ext cx="22896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BB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7434" y="460833"/>
            <a:ext cx="556023" cy="5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3 columns slide">
  <p:cSld name="TITLE_AND_TWO_COLUMNS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937250" y="1495850"/>
            <a:ext cx="3522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23" name="Google Shape;23;p24"/>
          <p:cNvSpPr/>
          <p:nvPr/>
        </p:nvSpPr>
        <p:spPr>
          <a:xfrm rot="-5400000">
            <a:off x="2297700" y="3573600"/>
            <a:ext cx="17139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4"/>
          <p:cNvSpPr/>
          <p:nvPr/>
        </p:nvSpPr>
        <p:spPr>
          <a:xfrm rot="-5400000">
            <a:off x="4927200" y="3573625"/>
            <a:ext cx="17139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4"/>
          <p:cNvSpPr/>
          <p:nvPr/>
        </p:nvSpPr>
        <p:spPr>
          <a:xfrm rot="-5400000">
            <a:off x="7556700" y="3573625"/>
            <a:ext cx="17139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4"/>
          <p:cNvSpPr txBox="1"/>
          <p:nvPr>
            <p:ph idx="1" type="subTitle"/>
          </p:nvPr>
        </p:nvSpPr>
        <p:spPr>
          <a:xfrm>
            <a:off x="700662" y="2259868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7" name="Google Shape;27;p24"/>
          <p:cNvSpPr txBox="1"/>
          <p:nvPr>
            <p:ph idx="2" type="subTitle"/>
          </p:nvPr>
        </p:nvSpPr>
        <p:spPr>
          <a:xfrm>
            <a:off x="700654" y="3349745"/>
            <a:ext cx="2278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sp>
        <p:nvSpPr>
          <p:cNvPr id="28" name="Google Shape;28;p24"/>
          <p:cNvSpPr txBox="1"/>
          <p:nvPr>
            <p:ph idx="3" type="subTitle"/>
          </p:nvPr>
        </p:nvSpPr>
        <p:spPr>
          <a:xfrm>
            <a:off x="3330162" y="2259868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9" name="Google Shape;29;p24"/>
          <p:cNvSpPr txBox="1"/>
          <p:nvPr>
            <p:ph idx="4" type="subTitle"/>
          </p:nvPr>
        </p:nvSpPr>
        <p:spPr>
          <a:xfrm>
            <a:off x="3330154" y="3349745"/>
            <a:ext cx="2278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5" type="subTitle"/>
          </p:nvPr>
        </p:nvSpPr>
        <p:spPr>
          <a:xfrm>
            <a:off x="5959662" y="2259868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1" name="Google Shape;31;p24"/>
          <p:cNvSpPr txBox="1"/>
          <p:nvPr>
            <p:ph idx="6" type="subTitle"/>
          </p:nvPr>
        </p:nvSpPr>
        <p:spPr>
          <a:xfrm>
            <a:off x="5959654" y="3349745"/>
            <a:ext cx="2278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Quote slid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/>
          <p:nvPr/>
        </p:nvSpPr>
        <p:spPr>
          <a:xfrm>
            <a:off x="2028900" y="0"/>
            <a:ext cx="5086200" cy="5143500"/>
          </a:xfrm>
          <a:prstGeom prst="parallelogram">
            <a:avLst>
              <a:gd fmla="val 25000" name="adj"/>
            </a:avLst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5"/>
          <p:cNvSpPr txBox="1"/>
          <p:nvPr>
            <p:ph idx="1" type="subTitle"/>
          </p:nvPr>
        </p:nvSpPr>
        <p:spPr>
          <a:xfrm>
            <a:off x="3153525" y="1800750"/>
            <a:ext cx="25233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2" type="subTitle"/>
          </p:nvPr>
        </p:nvSpPr>
        <p:spPr>
          <a:xfrm>
            <a:off x="3153525" y="4011203"/>
            <a:ext cx="1894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pic>
        <p:nvPicPr>
          <p:cNvPr id="36" name="Google Shape;3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0000" y="4545630"/>
            <a:ext cx="476544" cy="50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692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slide 1">
  <p:cSld name="Title &amp; body slide 1">
    <p:bg>
      <p:bgPr>
        <a:solidFill>
          <a:srgbClr val="252525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7115100" cy="5143500"/>
          </a:xfrm>
          <a:prstGeom prst="parallelogram">
            <a:avLst>
              <a:gd fmla="val 25000" name="adj"/>
            </a:avLst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6"/>
          <p:cNvSpPr txBox="1"/>
          <p:nvPr>
            <p:ph type="title"/>
          </p:nvPr>
        </p:nvSpPr>
        <p:spPr>
          <a:xfrm>
            <a:off x="1285900" y="458225"/>
            <a:ext cx="47367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  <a:defRPr b="1" sz="4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0" name="Google Shape;40;p26"/>
          <p:cNvSpPr txBox="1"/>
          <p:nvPr>
            <p:ph idx="1" type="subTitle"/>
          </p:nvPr>
        </p:nvSpPr>
        <p:spPr>
          <a:xfrm>
            <a:off x="1285900" y="2963125"/>
            <a:ext cx="3961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pic>
        <p:nvPicPr>
          <p:cNvPr id="41" name="Google Shape;4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0000" y="4545630"/>
            <a:ext cx="476544" cy="50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slide">
  <p:cSld name="Caption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496300" y="1198875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4" name="Google Shape;44;p27"/>
          <p:cNvSpPr/>
          <p:nvPr/>
        </p:nvSpPr>
        <p:spPr>
          <a:xfrm rot="10800000">
            <a:off x="561900" y="4669200"/>
            <a:ext cx="2289600" cy="92400"/>
          </a:xfrm>
          <a:prstGeom prst="rect">
            <a:avLst/>
          </a:prstGeom>
          <a:solidFill>
            <a:srgbClr val="90C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E7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7"/>
          <p:cNvSpPr txBox="1"/>
          <p:nvPr>
            <p:ph idx="1" type="subTitle"/>
          </p:nvPr>
        </p:nvSpPr>
        <p:spPr>
          <a:xfrm>
            <a:off x="496300" y="3315875"/>
            <a:ext cx="33432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pic>
        <p:nvPicPr>
          <p:cNvPr id="46" name="Google Shape;4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910" y="4555710"/>
            <a:ext cx="402793" cy="42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 b="17473" l="13106" r="3517" t="15680"/>
          <a:stretch/>
        </p:blipFill>
        <p:spPr>
          <a:xfrm>
            <a:off x="1198475" y="534325"/>
            <a:ext cx="7624521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/>
          <p:nvPr>
            <p:ph type="ctrTitle"/>
          </p:nvPr>
        </p:nvSpPr>
        <p:spPr>
          <a:xfrm>
            <a:off x="1483987" y="1323568"/>
            <a:ext cx="7780154" cy="2496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</a:pPr>
            <a:r>
              <a:rPr lang="pt-BR" sz="6000">
                <a:solidFill>
                  <a:srgbClr val="174584"/>
                </a:solidFill>
              </a:rPr>
              <a:t>Engenharia de Software</a:t>
            </a:r>
            <a:br>
              <a:rPr lang="pt-BR" sz="6000">
                <a:solidFill>
                  <a:srgbClr val="174584"/>
                </a:solidFill>
              </a:rPr>
            </a:br>
            <a:br>
              <a:rPr lang="pt-BR" sz="3200">
                <a:solidFill>
                  <a:srgbClr val="174584"/>
                </a:solidFill>
              </a:rPr>
            </a:br>
            <a:r>
              <a:rPr lang="pt-BR" sz="3200">
                <a:solidFill>
                  <a:srgbClr val="174584"/>
                </a:solidFill>
              </a:rPr>
              <a:t>				Tarik Ponciano</a:t>
            </a:r>
            <a:endParaRPr/>
          </a:p>
        </p:txBody>
      </p:sp>
      <p:pic>
        <p:nvPicPr>
          <p:cNvPr id="53" name="Google Shape;5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8377" y="4333164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 da Aula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1669925" y="1167329"/>
            <a:ext cx="6774667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propósito desta aula é fornecer uma compreensão sólida da Engenharia de Software, abordando seus conceitos fundamentais e seus objetivos principais.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1669925" y="1167329"/>
            <a:ext cx="470674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mundo moderno depende fundamentalmente do software para funcionar.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Desde infraestruturas nacionais até produtos eletrônicos, o software está omnipresente.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engenharia de software é essencial para o funcionamento da sociedade.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nterface gráfica do usuário&#10;&#10;Descrição gerada automaticamente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4119" y="1000125"/>
            <a:ext cx="2222262" cy="1451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7578" y="3046496"/>
            <a:ext cx="2140619" cy="1148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669925" y="1167329"/>
            <a:ext cx="470674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sistemas de software são abstratos e intangíveis, o que os torna desafiadores de entender e alterar.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falta de restrições físicas permite um grande potencial, mas também pode levar à complexidade excessiva e custos elevados.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Não existe uma abordagem universal para a engenharia de software; diferentes tipos de software exigem diferentes técnicas.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ma imagem contendo Interface gráfica do usuário&#10;&#10;Descrição gerada automaticamente"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4519" y="2275473"/>
            <a:ext cx="2156661" cy="1133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Causa de falhas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1669925" y="1167329"/>
            <a:ext cx="7316088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Aumento de Demanda: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Novas técnicas de engenharia de software possibilitam a construção de sistemas maiores e mais complexos.</a:t>
            </a:r>
            <a:endParaRPr/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demandas mudam: sistemas devem ser construídos e entregues mais rapidamente para acompanhar as mudanças do mercado.</a:t>
            </a:r>
            <a:endParaRPr/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Desenvolvimento profissional de software e ética na engenharia de software são fundamentais para atender a essas novas demandas.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Causa de falhas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1669925" y="1001895"/>
            <a:ext cx="7316088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Expectativas Baixas: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 possível escrever programas computacionais sem seguir técnicas de engenharia de software.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Muitas empresas não utilizam métodos de engenharia de software em suas práticas diárias.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Resultado: software mais caro e menos confiável do que o necessário.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Solução: Educação e treinamento em engenharia de software são essenciais para superar esses problemas.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ce gráfica do usuário, Aplicativo&#10;&#10;Descrição gerada automaticamente" id="91" name="Google Shape;91;p7"/>
          <p:cNvPicPr preferRelativeResize="0"/>
          <p:nvPr/>
        </p:nvPicPr>
        <p:blipFill rotWithShape="1">
          <a:blip r:embed="rId3">
            <a:alphaModFix/>
          </a:blip>
          <a:srcRect b="9025" l="0" r="-109" t="8588"/>
          <a:stretch/>
        </p:blipFill>
        <p:spPr>
          <a:xfrm>
            <a:off x="1165560" y="150394"/>
            <a:ext cx="7850613" cy="484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que é Engenharia de Software?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1669925" y="1167329"/>
            <a:ext cx="6774667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Engenharia de Software é o processo de aplicar métodos de engenharia para desenvolver software de forma organizada e eficiente.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Isso inclui desde a definição dos requisitos até a implementação, testes e manutenção do software. O objetivo é criar sistemas que atendam às necessidades dos usuários, sejam confiáveis e fáceis de manter ao longo do tempo.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 da Engenharia de Software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1669925" y="1024454"/>
            <a:ext cx="6774667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Entregar Software de Qualidade:</a:t>
            </a:r>
            <a:r>
              <a:rPr b="0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Desenvolver software que atenda aos requisitos do usuário, seja confiável, seguro e fácil de usar.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Manter Prazos e Orçamentos:</a:t>
            </a:r>
            <a:r>
              <a:rPr b="0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Cumprir prazos e orçamentos estabelecidos para o desenvolvimento de software, garantindo a eficiência do processo.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Melhorar a Produtividade:</a:t>
            </a:r>
            <a:r>
              <a:rPr b="0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Implementar métodos e técnicas que aumentem a produtividade da equipe de desenvolvimento e reduzam o tempo necessário para completar projetos.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Facilitar a Manutenção:</a:t>
            </a:r>
            <a:r>
              <a:rPr b="0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Criar software que seja fácil de manter e evoluir ao longo do tempo, garantindo sua relevância contínua para os usuários.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Assegurar a Satisfação do Cliente:</a:t>
            </a:r>
            <a:r>
              <a:rPr b="0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Garantir que o software desenvolvido atenda às expectativas e necessidades dos clientes, proporcionando uma experiência positiva de uso.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que é Software?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0"/>
          <p:cNvSpPr txBox="1"/>
          <p:nvPr/>
        </p:nvSpPr>
        <p:spPr>
          <a:xfrm>
            <a:off x="1669925" y="1167329"/>
            <a:ext cx="7210811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refere-se aos programas de computador, conjuntos de instruções que direcionam o funcionamento de um computador ou dispositivo eletrônico. Ele engloba desde aplicativos de uso diário, como navegadores da web e aplicativos de mídia social, até sistemas operacionais que controlam o hardware de um computador.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software descreve o que o dispositivo deve fazer e como deve fazê-lo, permitindo que os usuários realizem tarefas específicas. Ele pode ser classificado em duas categorias principais: software de sistema, que fornece a base para a operação do computador, e software de aplicativo, que realiza tarefas específicas para os usuários, como processamento de texto ou edição de fotos.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/>
        </p:nvSpPr>
        <p:spPr>
          <a:xfrm>
            <a:off x="2128629" y="441869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Atributos essenciais do Software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56" y="1258403"/>
            <a:ext cx="9008645" cy="298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 de Software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1669925" y="1167329"/>
            <a:ext cx="677466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abordagem usada na engenharia de software é, comumente, chamada de processo de software. Um processo de atividade que leva à produção de um produto de software. São quatro atividades fundamentais: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software, em que clientes e engenheiros definem o software a ser produzido e as restrições de sua operação.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Desenvolvimento de software, em que o software é projetado e programado.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Validação de software, em que o software é verificado para garantir que é o que o cliente quer.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Evolução de software, em que o software é modificado para refletir a mudança de requisitos do cliente e do mercado.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669925" y="934217"/>
            <a:ext cx="7383900" cy="51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Heterogeneidade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Cada vez mais se requer dos sistemas que operem como sistemas distribuídos através das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redes que incluem diferentes tipos de computadores e dispositivos móveis. 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Além de executar nos computadores de propósito geral, o software talvez tenha de executar em telefones móveis. 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requentemente, você tem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integrar software novo com sistemas mais antigos, escritos em linguagens de programação diferentes. 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 aqui é desenvolver técnicas para construir um software confiável que seja flexível o suficiente para lidar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 essa heterogeneidade.</a:t>
            </a:r>
            <a:b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669925" y="1167329"/>
            <a:ext cx="67746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Mudança de negócio e social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Negócio e sociedade estão mudando de maneira incrivelmente rápida, à medida</a:t>
            </a:r>
            <a:b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 as economias emergentes se desenvolvem e as novas tecnologias se tornam disponíveis. Deve ser possível</a:t>
            </a:r>
            <a:b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alterar seu software existente e desenvolver um novo software rapidamente. Muitas técnicas tradicionais de</a:t>
            </a:r>
            <a:b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software consomem tempo, e a entrega de novos sistemas frequentemente é mais demorada</a:t>
            </a:r>
            <a:b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que o planejado. É preciso evoluir para que o tempo requerido para o software dar retorno a seus clientes</a:t>
            </a:r>
            <a:b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seja reduzido.</a:t>
            </a:r>
            <a:b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669925" y="1167329"/>
            <a:ext cx="67746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Segurança e confiança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Pelo fato de o software estar presente em todos os aspectos de nossas vidas, é essencial</a:t>
            </a:r>
            <a:b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 possamos confiar nele. Isso se torna verdade especialmente para sistemas remotos acessados através de</a:t>
            </a:r>
            <a:b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 página Web ou uma interface de web Service. Precisamos ter certeza de que os usuários maliciosos não</a:t>
            </a:r>
            <a:b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possam atacar nosso software e de que a proteção da informação seja mantida.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4989888" y="601001"/>
            <a:ext cx="3522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Vamos Tentar</a:t>
            </a:r>
            <a:endParaRPr/>
          </a:p>
        </p:txBody>
      </p:sp>
      <p:sp>
        <p:nvSpPr>
          <p:cNvPr id="145" name="Google Shape;145;p16"/>
          <p:cNvSpPr txBox="1"/>
          <p:nvPr>
            <p:ph idx="1" type="subTitle"/>
          </p:nvPr>
        </p:nvSpPr>
        <p:spPr>
          <a:xfrm>
            <a:off x="264517" y="244578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Fase 1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263191" y="661737"/>
            <a:ext cx="221832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uma aplicação para o uso de IA Generativa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Pesquise soluções que já possam existir no mercado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Identifique quem seria o público alvo para esse tipo de aplicação e quais seriam os casos de uso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você faria diferente?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4989888" y="601001"/>
            <a:ext cx="3522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Vamos Tentar</a:t>
            </a:r>
            <a:endParaRPr/>
          </a:p>
        </p:txBody>
      </p:sp>
      <p:sp>
        <p:nvSpPr>
          <p:cNvPr id="152" name="Google Shape;152;p17"/>
          <p:cNvSpPr txBox="1"/>
          <p:nvPr>
            <p:ph idx="1" type="subTitle"/>
          </p:nvPr>
        </p:nvSpPr>
        <p:spPr>
          <a:xfrm>
            <a:off x="264517" y="244578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Fase 1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263191" y="661737"/>
            <a:ext cx="221832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uma aplicação para o uso de IA Generativa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Pesquise soluções que já possam existir no mercado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Identifique quem seria o público alvo para esse tipo de aplicação e quais seriam os casos de uso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você faria diferente?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3372173" y="231544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None/>
            </a:pPr>
            <a:r>
              <a:rPr b="1" i="0" lang="pt-BR" sz="1700" u="none" cap="none" strike="noStrike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rPr>
              <a:t>Fase 2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3361322" y="639177"/>
            <a:ext cx="2218320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 faça uma lista das funcionalidades que a aplicação deveria 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Tente desenhar como seria uma tela da sua aplicação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Escreva uma descrição de um parágrafo sobre o que se trata sua aplicação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idx="1" type="subTitle"/>
          </p:nvPr>
        </p:nvSpPr>
        <p:spPr>
          <a:xfrm>
            <a:off x="264517" y="244578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Fase 1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263191" y="661737"/>
            <a:ext cx="221832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uma aplicação para o uso de IA Generativa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Pesquise soluções que já possam existir no mercado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Identifique quem seria o público alvo para esse tipo de aplicação e quais seriam os casos de uso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você faria diferente?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3372173" y="231544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None/>
            </a:pPr>
            <a:r>
              <a:rPr b="1" i="0" lang="pt-BR" sz="1700" u="none" cap="none" strike="noStrike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rPr>
              <a:t>Fase 2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3361322" y="639177"/>
            <a:ext cx="2218320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 faça uma lista das funcionalidades que a aplicação deveria 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Tente desenhar como seria uma tela da sua aplicação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Escreva uma descrição de um parágrafo sobre o que se trata sua aplicação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049198" y="171385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None/>
            </a:pPr>
            <a:r>
              <a:rPr b="1" i="0" lang="pt-BR" sz="1700" u="none" cap="none" strike="noStrike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rPr>
              <a:t>Fase 3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038347" y="579019"/>
            <a:ext cx="2218320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Faça dupla com o colega na cadeira oposta a sua. Mas não mostre o que você fez até agora.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Explique sua ideia e ouça a ideia do seu colega.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Tentem desenhar como seria a tela da aplicação do seu colega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Comparem os resultados e proponham melhorias.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ctrTitle"/>
          </p:nvPr>
        </p:nvSpPr>
        <p:spPr>
          <a:xfrm>
            <a:off x="2106771" y="1852628"/>
            <a:ext cx="61350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6400">
                <a:solidFill>
                  <a:srgbClr val="252525"/>
                </a:solidFill>
              </a:rPr>
              <a:t>Obrigado!!</a:t>
            </a:r>
            <a:endParaRPr sz="6400">
              <a:solidFill>
                <a:srgbClr val="174584"/>
              </a:solidFill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6160" y="3780429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Blu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Doraneide Albuquerque Fernandes</dc:creator>
</cp:coreProperties>
</file>
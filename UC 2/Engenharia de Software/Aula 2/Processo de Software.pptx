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5143500" type="screen16x9"/>
  <p:notesSz cx="6858000" cy="9144000"/>
  <p:embeddedFontLst>
    <p:embeddedFont>
      <p:font typeface="Montserrat" panose="020B0604020202020204" charset="0"/>
      <p:regular r:id="rId55"/>
      <p:bold r:id="rId56"/>
      <p:italic r:id="rId57"/>
      <p:boldItalic r:id="rId58"/>
    </p:embeddedFont>
    <p:embeddedFont>
      <p:font typeface="Montserrat ExtraBold" panose="020B0604020202020204" charset="0"/>
      <p:bold r:id="rId59"/>
      <p:boldItalic r:id="rId60"/>
    </p:embeddedFont>
    <p:embeddedFont>
      <p:font typeface="Montserrat SemiBold" panose="020B0604020202020204" charset="0"/>
      <p:regular r:id="rId61"/>
      <p:bold r:id="rId62"/>
      <p:italic r:id="rId63"/>
      <p:boldItalic r:id="rId64"/>
    </p:embeddedFont>
    <p:embeddedFont>
      <p:font typeface="Roboto" panose="020B0604020202020204" charset="0"/>
      <p:regular r:id="rId65"/>
      <p:bold r:id="rId66"/>
      <p:italic r:id="rId67"/>
      <p:boldItalic r:id="rId68"/>
    </p:embeddedFont>
    <p:embeddedFont>
      <p:font typeface="Spectral Light" panose="020B0604020202020204"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7">
          <p15:clr>
            <a:srgbClr val="A4A3A4"/>
          </p15:clr>
        </p15:guide>
        <p15:guide id="2" pos="5558">
          <p15:clr>
            <a:srgbClr val="A4A3A4"/>
          </p15:clr>
        </p15:guide>
        <p15:guide id="3" pos="1304">
          <p15:clr>
            <a:srgbClr val="A4A3A4"/>
          </p15:clr>
        </p15:guide>
        <p15:guide id="4" orient="horz" pos="1620">
          <p15:clr>
            <a:srgbClr val="A4A3A4"/>
          </p15:clr>
        </p15:guide>
        <p15:guide id="5" orient="horz" pos="2623">
          <p15:clr>
            <a:srgbClr val="A4A3A4"/>
          </p15:clr>
        </p15:guide>
        <p15:guide id="6" pos="4320">
          <p15:clr>
            <a:srgbClr val="A4A3A4"/>
          </p15:clr>
        </p15:guide>
        <p15:guide id="7" pos="3118">
          <p15:clr>
            <a:srgbClr val="A4A3A4"/>
          </p15:clr>
        </p15:guide>
        <p15:guide id="8" pos="2976">
          <p15:clr>
            <a:srgbClr val="A4A3A4"/>
          </p15:clr>
        </p15:guide>
        <p15:guide id="9" orient="horz" pos="590">
          <p15:clr>
            <a:srgbClr val="A4A3A4"/>
          </p15:clr>
        </p15:guide>
        <p15:guide id="10" pos="2268">
          <p15:clr>
            <a:srgbClr val="A4A3A4"/>
          </p15:clr>
        </p15:guide>
        <p15:guide id="11" pos="3902">
          <p15:clr>
            <a:srgbClr val="A4A3A4"/>
          </p15:clr>
        </p15:guide>
        <p15:guide id="12" orient="horz" pos="105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hEEWsxhf2FIIT3Buu9jyUUwE0g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894" y="84"/>
      </p:cViewPr>
      <p:guideLst>
        <p:guide orient="horz" pos="337"/>
        <p:guide pos="5558"/>
        <p:guide pos="1304"/>
        <p:guide orient="horz" pos="1620"/>
        <p:guide orient="horz" pos="2623"/>
        <p:guide pos="4320"/>
        <p:guide pos="3118"/>
        <p:guide pos="2976"/>
        <p:guide orient="horz" pos="590"/>
        <p:guide pos="2268"/>
        <p:guide pos="3902"/>
        <p:guide orient="horz" pos="10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font" Target="fonts/font14.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 Id="rId76" Type="http://customschemas.google.com/relationships/presentationmetadata" Target="metadata"/><Relationship Id="rId7" Type="http://schemas.openxmlformats.org/officeDocument/2006/relationships/slide" Target="slides/slide6.xml"/><Relationship Id="rId71" Type="http://schemas.openxmlformats.org/officeDocument/2006/relationships/font" Target="fonts/font17.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 name="Google Shape;3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 name="Google Shape;4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f4f08aab5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1f4f08aab51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f4f08aab5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g1f4f08aab5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f4f08aab51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f4f08aab51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f4f08aab5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1f4f08aab51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f4f08aab51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1f4f08aab51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f4f08aab5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1f4f08aab51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f4f08aab51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g1f4f08aab51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f4f08aab51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g1f4f08aab51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f4f08aab51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1f4f08aab51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1f4f08aab51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1f4f08aab51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f4f08aab51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g1f4f08aab51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Title slide" type="title">
  <p:cSld name="TITLE">
    <p:spTree>
      <p:nvGrpSpPr>
        <p:cNvPr id="1" name="Shape 8"/>
        <p:cNvGrpSpPr/>
        <p:nvPr/>
      </p:nvGrpSpPr>
      <p:grpSpPr>
        <a:xfrm>
          <a:off x="0" y="0"/>
          <a:ext cx="0" cy="0"/>
          <a:chOff x="0" y="0"/>
          <a:chExt cx="0" cy="0"/>
        </a:xfrm>
      </p:grpSpPr>
      <p:sp>
        <p:nvSpPr>
          <p:cNvPr id="9" name="Google Shape;9;p43"/>
          <p:cNvSpPr txBox="1">
            <a:spLocks noGrp="1"/>
          </p:cNvSpPr>
          <p:nvPr>
            <p:ph type="ctrTitle"/>
          </p:nvPr>
        </p:nvSpPr>
        <p:spPr>
          <a:xfrm>
            <a:off x="1516500" y="1001050"/>
            <a:ext cx="6809100" cy="3141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252525"/>
              </a:buClr>
              <a:buSzPts val="4600"/>
              <a:buNone/>
              <a:defRPr sz="4600">
                <a:solidFill>
                  <a:srgbClr val="252525"/>
                </a:solidFill>
              </a:defRPr>
            </a:lvl1pPr>
            <a:lvl2pPr lvl="1" algn="ctr">
              <a:lnSpc>
                <a:spcPct val="100000"/>
              </a:lnSpc>
              <a:spcBef>
                <a:spcPts val="0"/>
              </a:spcBef>
              <a:spcAft>
                <a:spcPts val="0"/>
              </a:spcAft>
              <a:buClr>
                <a:srgbClr val="434343"/>
              </a:buClr>
              <a:buSzPts val="4800"/>
              <a:buNone/>
              <a:defRPr sz="4800">
                <a:solidFill>
                  <a:srgbClr val="434343"/>
                </a:solidFill>
              </a:defRPr>
            </a:lvl2pPr>
            <a:lvl3pPr lvl="2" algn="ctr">
              <a:lnSpc>
                <a:spcPct val="100000"/>
              </a:lnSpc>
              <a:spcBef>
                <a:spcPts val="0"/>
              </a:spcBef>
              <a:spcAft>
                <a:spcPts val="0"/>
              </a:spcAft>
              <a:buClr>
                <a:srgbClr val="434343"/>
              </a:buClr>
              <a:buSzPts val="4800"/>
              <a:buNone/>
              <a:defRPr sz="4800">
                <a:solidFill>
                  <a:srgbClr val="434343"/>
                </a:solidFill>
              </a:defRPr>
            </a:lvl3pPr>
            <a:lvl4pPr lvl="3" algn="ctr">
              <a:lnSpc>
                <a:spcPct val="100000"/>
              </a:lnSpc>
              <a:spcBef>
                <a:spcPts val="0"/>
              </a:spcBef>
              <a:spcAft>
                <a:spcPts val="0"/>
              </a:spcAft>
              <a:buClr>
                <a:srgbClr val="434343"/>
              </a:buClr>
              <a:buSzPts val="4800"/>
              <a:buNone/>
              <a:defRPr sz="4800">
                <a:solidFill>
                  <a:srgbClr val="434343"/>
                </a:solidFill>
              </a:defRPr>
            </a:lvl4pPr>
            <a:lvl5pPr lvl="4" algn="ctr">
              <a:lnSpc>
                <a:spcPct val="100000"/>
              </a:lnSpc>
              <a:spcBef>
                <a:spcPts val="0"/>
              </a:spcBef>
              <a:spcAft>
                <a:spcPts val="0"/>
              </a:spcAft>
              <a:buClr>
                <a:srgbClr val="434343"/>
              </a:buClr>
              <a:buSzPts val="4800"/>
              <a:buNone/>
              <a:defRPr sz="4800">
                <a:solidFill>
                  <a:srgbClr val="434343"/>
                </a:solidFill>
              </a:defRPr>
            </a:lvl5pPr>
            <a:lvl6pPr lvl="5" algn="ctr">
              <a:lnSpc>
                <a:spcPct val="100000"/>
              </a:lnSpc>
              <a:spcBef>
                <a:spcPts val="0"/>
              </a:spcBef>
              <a:spcAft>
                <a:spcPts val="0"/>
              </a:spcAft>
              <a:buClr>
                <a:srgbClr val="434343"/>
              </a:buClr>
              <a:buSzPts val="4800"/>
              <a:buNone/>
              <a:defRPr sz="4800">
                <a:solidFill>
                  <a:srgbClr val="434343"/>
                </a:solidFill>
              </a:defRPr>
            </a:lvl6pPr>
            <a:lvl7pPr lvl="6" algn="ctr">
              <a:lnSpc>
                <a:spcPct val="100000"/>
              </a:lnSpc>
              <a:spcBef>
                <a:spcPts val="0"/>
              </a:spcBef>
              <a:spcAft>
                <a:spcPts val="0"/>
              </a:spcAft>
              <a:buClr>
                <a:srgbClr val="434343"/>
              </a:buClr>
              <a:buSzPts val="4800"/>
              <a:buNone/>
              <a:defRPr sz="4800">
                <a:solidFill>
                  <a:srgbClr val="434343"/>
                </a:solidFill>
              </a:defRPr>
            </a:lvl7pPr>
            <a:lvl8pPr lvl="7" algn="ctr">
              <a:lnSpc>
                <a:spcPct val="100000"/>
              </a:lnSpc>
              <a:spcBef>
                <a:spcPts val="0"/>
              </a:spcBef>
              <a:spcAft>
                <a:spcPts val="0"/>
              </a:spcAft>
              <a:buClr>
                <a:srgbClr val="434343"/>
              </a:buClr>
              <a:buSzPts val="4800"/>
              <a:buNone/>
              <a:defRPr sz="4800">
                <a:solidFill>
                  <a:srgbClr val="434343"/>
                </a:solidFill>
              </a:defRPr>
            </a:lvl8pPr>
            <a:lvl9pPr lvl="8" algn="ctr">
              <a:lnSpc>
                <a:spcPct val="100000"/>
              </a:lnSpc>
              <a:spcBef>
                <a:spcPts val="0"/>
              </a:spcBef>
              <a:spcAft>
                <a:spcPts val="0"/>
              </a:spcAft>
              <a:buClr>
                <a:srgbClr val="434343"/>
              </a:buClr>
              <a:buSzPts val="4800"/>
              <a:buNone/>
              <a:defRPr sz="4800">
                <a:solidFill>
                  <a:srgbClr val="434343"/>
                </a:solidFill>
              </a:defRPr>
            </a:lvl9pPr>
          </a:lstStyle>
          <a:p>
            <a:endParaRPr/>
          </a:p>
        </p:txBody>
      </p:sp>
      <p:sp>
        <p:nvSpPr>
          <p:cNvPr id="10" name="Google Shape;10;p43"/>
          <p:cNvSpPr/>
          <p:nvPr/>
        </p:nvSpPr>
        <p:spPr>
          <a:xfrm rot="-5400000">
            <a:off x="-1173125" y="2799675"/>
            <a:ext cx="4615200" cy="92400"/>
          </a:xfrm>
          <a:prstGeom prst="rect">
            <a:avLst/>
          </a:prstGeom>
          <a:solidFill>
            <a:srgbClr val="1745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43"/>
          <p:cNvSpPr txBox="1">
            <a:spLocks noGrp="1"/>
          </p:cNvSpPr>
          <p:nvPr>
            <p:ph type="subTitle" idx="1"/>
          </p:nvPr>
        </p:nvSpPr>
        <p:spPr>
          <a:xfrm rot="-5400000">
            <a:off x="-1772935" y="1844264"/>
            <a:ext cx="4950600" cy="578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Title &amp; subtitle slide" type="secHead">
  <p:cSld name="SECTION_HEADER">
    <p:bg>
      <p:bgPr>
        <a:noFill/>
        <a:effectLst/>
      </p:bgPr>
    </p:bg>
    <p:spTree>
      <p:nvGrpSpPr>
        <p:cNvPr id="1" name="Shape 12"/>
        <p:cNvGrpSpPr/>
        <p:nvPr/>
      </p:nvGrpSpPr>
      <p:grpSpPr>
        <a:xfrm>
          <a:off x="0" y="0"/>
          <a:ext cx="0" cy="0"/>
          <a:chOff x="0" y="0"/>
          <a:chExt cx="0" cy="0"/>
        </a:xfrm>
      </p:grpSpPr>
      <p:sp>
        <p:nvSpPr>
          <p:cNvPr id="13" name="Google Shape;13;p44"/>
          <p:cNvSpPr txBox="1">
            <a:spLocks noGrp="1"/>
          </p:cNvSpPr>
          <p:nvPr>
            <p:ph type="title"/>
          </p:nvPr>
        </p:nvSpPr>
        <p:spPr>
          <a:xfrm>
            <a:off x="1477425" y="2095075"/>
            <a:ext cx="3942300" cy="1585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373334"/>
              </a:buClr>
              <a:buSzPts val="3300"/>
              <a:buNone/>
              <a:defRPr sz="3300">
                <a:solidFill>
                  <a:srgbClr val="373334"/>
                </a:solidFill>
              </a:defRPr>
            </a:lvl1pPr>
            <a:lvl2pPr lvl="1" algn="l">
              <a:lnSpc>
                <a:spcPct val="100000"/>
              </a:lnSpc>
              <a:spcBef>
                <a:spcPts val="0"/>
              </a:spcBef>
              <a:spcAft>
                <a:spcPts val="0"/>
              </a:spcAft>
              <a:buClr>
                <a:srgbClr val="373334"/>
              </a:buClr>
              <a:buSzPts val="3300"/>
              <a:buNone/>
              <a:defRPr sz="3300">
                <a:solidFill>
                  <a:srgbClr val="373334"/>
                </a:solidFill>
              </a:defRPr>
            </a:lvl2pPr>
            <a:lvl3pPr lvl="2" algn="l">
              <a:lnSpc>
                <a:spcPct val="100000"/>
              </a:lnSpc>
              <a:spcBef>
                <a:spcPts val="0"/>
              </a:spcBef>
              <a:spcAft>
                <a:spcPts val="0"/>
              </a:spcAft>
              <a:buClr>
                <a:srgbClr val="373334"/>
              </a:buClr>
              <a:buSzPts val="3300"/>
              <a:buNone/>
              <a:defRPr sz="3300">
                <a:solidFill>
                  <a:srgbClr val="373334"/>
                </a:solidFill>
              </a:defRPr>
            </a:lvl3pPr>
            <a:lvl4pPr lvl="3" algn="l">
              <a:lnSpc>
                <a:spcPct val="100000"/>
              </a:lnSpc>
              <a:spcBef>
                <a:spcPts val="0"/>
              </a:spcBef>
              <a:spcAft>
                <a:spcPts val="0"/>
              </a:spcAft>
              <a:buClr>
                <a:srgbClr val="373334"/>
              </a:buClr>
              <a:buSzPts val="3300"/>
              <a:buNone/>
              <a:defRPr sz="3300">
                <a:solidFill>
                  <a:srgbClr val="373334"/>
                </a:solidFill>
              </a:defRPr>
            </a:lvl4pPr>
            <a:lvl5pPr lvl="4" algn="l">
              <a:lnSpc>
                <a:spcPct val="100000"/>
              </a:lnSpc>
              <a:spcBef>
                <a:spcPts val="0"/>
              </a:spcBef>
              <a:spcAft>
                <a:spcPts val="0"/>
              </a:spcAft>
              <a:buClr>
                <a:srgbClr val="373334"/>
              </a:buClr>
              <a:buSzPts val="3300"/>
              <a:buNone/>
              <a:defRPr sz="3300">
                <a:solidFill>
                  <a:srgbClr val="373334"/>
                </a:solidFill>
              </a:defRPr>
            </a:lvl5pPr>
            <a:lvl6pPr lvl="5" algn="l">
              <a:lnSpc>
                <a:spcPct val="100000"/>
              </a:lnSpc>
              <a:spcBef>
                <a:spcPts val="0"/>
              </a:spcBef>
              <a:spcAft>
                <a:spcPts val="0"/>
              </a:spcAft>
              <a:buClr>
                <a:srgbClr val="373334"/>
              </a:buClr>
              <a:buSzPts val="3300"/>
              <a:buNone/>
              <a:defRPr sz="3300">
                <a:solidFill>
                  <a:srgbClr val="373334"/>
                </a:solidFill>
              </a:defRPr>
            </a:lvl6pPr>
            <a:lvl7pPr lvl="6" algn="l">
              <a:lnSpc>
                <a:spcPct val="100000"/>
              </a:lnSpc>
              <a:spcBef>
                <a:spcPts val="0"/>
              </a:spcBef>
              <a:spcAft>
                <a:spcPts val="0"/>
              </a:spcAft>
              <a:buClr>
                <a:srgbClr val="373334"/>
              </a:buClr>
              <a:buSzPts val="3300"/>
              <a:buNone/>
              <a:defRPr sz="3300">
                <a:solidFill>
                  <a:srgbClr val="373334"/>
                </a:solidFill>
              </a:defRPr>
            </a:lvl7pPr>
            <a:lvl8pPr lvl="7" algn="l">
              <a:lnSpc>
                <a:spcPct val="100000"/>
              </a:lnSpc>
              <a:spcBef>
                <a:spcPts val="0"/>
              </a:spcBef>
              <a:spcAft>
                <a:spcPts val="0"/>
              </a:spcAft>
              <a:buClr>
                <a:srgbClr val="373334"/>
              </a:buClr>
              <a:buSzPts val="3300"/>
              <a:buNone/>
              <a:defRPr sz="3300">
                <a:solidFill>
                  <a:srgbClr val="373334"/>
                </a:solidFill>
              </a:defRPr>
            </a:lvl8pPr>
            <a:lvl9pPr lvl="8" algn="l">
              <a:lnSpc>
                <a:spcPct val="100000"/>
              </a:lnSpc>
              <a:spcBef>
                <a:spcPts val="0"/>
              </a:spcBef>
              <a:spcAft>
                <a:spcPts val="0"/>
              </a:spcAft>
              <a:buClr>
                <a:srgbClr val="373334"/>
              </a:buClr>
              <a:buSzPts val="3300"/>
              <a:buNone/>
              <a:defRPr sz="3300">
                <a:solidFill>
                  <a:srgbClr val="373334"/>
                </a:solidFill>
              </a:defRPr>
            </a:lvl9pPr>
          </a:lstStyle>
          <a:p>
            <a:endParaRPr/>
          </a:p>
        </p:txBody>
      </p:sp>
      <p:sp>
        <p:nvSpPr>
          <p:cNvPr id="14" name="Google Shape;14;p44"/>
          <p:cNvSpPr txBox="1">
            <a:spLocks noGrp="1"/>
          </p:cNvSpPr>
          <p:nvPr>
            <p:ph type="subTitle" idx="1"/>
          </p:nvPr>
        </p:nvSpPr>
        <p:spPr>
          <a:xfrm>
            <a:off x="1477425" y="4030950"/>
            <a:ext cx="2770200" cy="57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solidFill>
                  <a:srgbClr val="666666"/>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9pPr>
          </a:lstStyle>
          <a:p>
            <a:endParaRPr/>
          </a:p>
        </p:txBody>
      </p:sp>
      <p:sp>
        <p:nvSpPr>
          <p:cNvPr id="15" name="Google Shape;15;p44"/>
          <p:cNvSpPr/>
          <p:nvPr/>
        </p:nvSpPr>
        <p:spPr>
          <a:xfrm rot="-5400000">
            <a:off x="-1173125" y="2799675"/>
            <a:ext cx="4615200" cy="92400"/>
          </a:xfrm>
          <a:prstGeom prst="rect">
            <a:avLst/>
          </a:prstGeom>
          <a:solidFill>
            <a:srgbClr val="1745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44"/>
          <p:cNvPicPr preferRelativeResize="0"/>
          <p:nvPr/>
        </p:nvPicPr>
        <p:blipFill rotWithShape="1">
          <a:blip r:embed="rId2">
            <a:alphaModFix/>
          </a:blip>
          <a:srcRect/>
          <a:stretch/>
        </p:blipFill>
        <p:spPr>
          <a:xfrm>
            <a:off x="335711" y="4555710"/>
            <a:ext cx="402793" cy="42925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slide">
  <p:cSld name="Caption slide">
    <p:spTree>
      <p:nvGrpSpPr>
        <p:cNvPr id="1" name="Shape 17"/>
        <p:cNvGrpSpPr/>
        <p:nvPr/>
      </p:nvGrpSpPr>
      <p:grpSpPr>
        <a:xfrm>
          <a:off x="0" y="0"/>
          <a:ext cx="0" cy="0"/>
          <a:chOff x="0" y="0"/>
          <a:chExt cx="0" cy="0"/>
        </a:xfrm>
      </p:grpSpPr>
      <p:sp>
        <p:nvSpPr>
          <p:cNvPr id="18" name="Google Shape;18;p45"/>
          <p:cNvSpPr txBox="1">
            <a:spLocks noGrp="1"/>
          </p:cNvSpPr>
          <p:nvPr>
            <p:ph type="title"/>
          </p:nvPr>
        </p:nvSpPr>
        <p:spPr>
          <a:xfrm>
            <a:off x="496300" y="1198875"/>
            <a:ext cx="5016000" cy="2049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
        <p:nvSpPr>
          <p:cNvPr id="19" name="Google Shape;19;p45"/>
          <p:cNvSpPr/>
          <p:nvPr/>
        </p:nvSpPr>
        <p:spPr>
          <a:xfrm rot="10800000">
            <a:off x="561900" y="4669200"/>
            <a:ext cx="2289600" cy="92400"/>
          </a:xfrm>
          <a:prstGeom prst="rect">
            <a:avLst/>
          </a:prstGeom>
          <a:solidFill>
            <a:srgbClr val="90CC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E7FF"/>
              </a:solidFill>
              <a:latin typeface="Arial"/>
              <a:ea typeface="Arial"/>
              <a:cs typeface="Arial"/>
              <a:sym typeface="Arial"/>
            </a:endParaRPr>
          </a:p>
        </p:txBody>
      </p:sp>
      <p:sp>
        <p:nvSpPr>
          <p:cNvPr id="20" name="Google Shape;20;p45"/>
          <p:cNvSpPr txBox="1">
            <a:spLocks noGrp="1"/>
          </p:cNvSpPr>
          <p:nvPr>
            <p:ph type="subTitle" idx="1"/>
          </p:nvPr>
        </p:nvSpPr>
        <p:spPr>
          <a:xfrm>
            <a:off x="496300" y="3315875"/>
            <a:ext cx="3343200" cy="1066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200">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9pPr>
          </a:lstStyle>
          <a:p>
            <a:endParaRPr/>
          </a:p>
        </p:txBody>
      </p:sp>
      <p:pic>
        <p:nvPicPr>
          <p:cNvPr id="21" name="Google Shape;21;p45"/>
          <p:cNvPicPr preferRelativeResize="0"/>
          <p:nvPr/>
        </p:nvPicPr>
        <p:blipFill rotWithShape="1">
          <a:blip r:embed="rId2">
            <a:alphaModFix/>
          </a:blip>
          <a:srcRect/>
          <a:stretch/>
        </p:blipFill>
        <p:spPr>
          <a:xfrm>
            <a:off x="8498910" y="4555710"/>
            <a:ext cx="402793" cy="42925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slide">
  <p:cSld name="Quote slide">
    <p:spTree>
      <p:nvGrpSpPr>
        <p:cNvPr id="1" name="Shape 22"/>
        <p:cNvGrpSpPr/>
        <p:nvPr/>
      </p:nvGrpSpPr>
      <p:grpSpPr>
        <a:xfrm>
          <a:off x="0" y="0"/>
          <a:ext cx="0" cy="0"/>
          <a:chOff x="0" y="0"/>
          <a:chExt cx="0" cy="0"/>
        </a:xfrm>
      </p:grpSpPr>
      <p:sp>
        <p:nvSpPr>
          <p:cNvPr id="23" name="Google Shape;23;p46"/>
          <p:cNvSpPr/>
          <p:nvPr/>
        </p:nvSpPr>
        <p:spPr>
          <a:xfrm>
            <a:off x="2028900" y="0"/>
            <a:ext cx="5086200" cy="5143500"/>
          </a:xfrm>
          <a:prstGeom prst="parallelogram">
            <a:avLst>
              <a:gd name="adj" fmla="val 25000"/>
            </a:avLst>
          </a:prstGeom>
          <a:solidFill>
            <a:srgbClr val="1745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6"/>
          <p:cNvSpPr txBox="1">
            <a:spLocks noGrp="1"/>
          </p:cNvSpPr>
          <p:nvPr>
            <p:ph type="subTitle" idx="1"/>
          </p:nvPr>
        </p:nvSpPr>
        <p:spPr>
          <a:xfrm>
            <a:off x="3153525" y="1800750"/>
            <a:ext cx="2523300" cy="2111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1pPr>
            <a:lvl2pPr lvl="1"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2pPr>
            <a:lvl3pPr lvl="2"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3pPr>
            <a:lvl4pPr lvl="3"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4pPr>
            <a:lvl5pPr lvl="4"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5pPr>
            <a:lvl6pPr lvl="5"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6pPr>
            <a:lvl7pPr lvl="6"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7pPr>
            <a:lvl8pPr lvl="7"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8pPr>
            <a:lvl9pPr lvl="8"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9pPr>
          </a:lstStyle>
          <a:p>
            <a:endParaRPr/>
          </a:p>
        </p:txBody>
      </p:sp>
      <p:sp>
        <p:nvSpPr>
          <p:cNvPr id="25" name="Google Shape;25;p46"/>
          <p:cNvSpPr txBox="1">
            <a:spLocks noGrp="1"/>
          </p:cNvSpPr>
          <p:nvPr>
            <p:ph type="subTitle" idx="2"/>
          </p:nvPr>
        </p:nvSpPr>
        <p:spPr>
          <a:xfrm>
            <a:off x="3153525" y="4011203"/>
            <a:ext cx="1894500" cy="1066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solidFill>
                  <a:srgbClr val="90CCFA"/>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9pPr>
          </a:lstStyle>
          <a:p>
            <a:endParaRPr/>
          </a:p>
        </p:txBody>
      </p:sp>
      <p:pic>
        <p:nvPicPr>
          <p:cNvPr id="26" name="Google Shape;26;p46"/>
          <p:cNvPicPr preferRelativeResize="0"/>
          <p:nvPr/>
        </p:nvPicPr>
        <p:blipFill rotWithShape="1">
          <a:blip r:embed="rId2">
            <a:alphaModFix/>
          </a:blip>
          <a:srcRect/>
          <a:stretch/>
        </p:blipFill>
        <p:spPr>
          <a:xfrm>
            <a:off x="8450000" y="4545630"/>
            <a:ext cx="476544" cy="50437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69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body slide 1">
  <p:cSld name="Title &amp; body slide 1">
    <p:bg>
      <p:bgPr>
        <a:solidFill>
          <a:srgbClr val="252525"/>
        </a:solidFill>
        <a:effectLst/>
      </p:bgPr>
    </p:bg>
    <p:spTree>
      <p:nvGrpSpPr>
        <p:cNvPr id="1" name="Shape 27"/>
        <p:cNvGrpSpPr/>
        <p:nvPr/>
      </p:nvGrpSpPr>
      <p:grpSpPr>
        <a:xfrm>
          <a:off x="0" y="0"/>
          <a:ext cx="0" cy="0"/>
          <a:chOff x="0" y="0"/>
          <a:chExt cx="0" cy="0"/>
        </a:xfrm>
      </p:grpSpPr>
      <p:sp>
        <p:nvSpPr>
          <p:cNvPr id="28" name="Google Shape;28;p47"/>
          <p:cNvSpPr/>
          <p:nvPr/>
        </p:nvSpPr>
        <p:spPr>
          <a:xfrm>
            <a:off x="0" y="0"/>
            <a:ext cx="7115100" cy="5143500"/>
          </a:xfrm>
          <a:prstGeom prst="parallelogram">
            <a:avLst>
              <a:gd name="adj" fmla="val 25000"/>
            </a:avLst>
          </a:prstGeom>
          <a:solidFill>
            <a:srgbClr val="1745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7"/>
          <p:cNvSpPr txBox="1">
            <a:spLocks noGrp="1"/>
          </p:cNvSpPr>
          <p:nvPr>
            <p:ph type="title"/>
          </p:nvPr>
        </p:nvSpPr>
        <p:spPr>
          <a:xfrm>
            <a:off x="1285900" y="458225"/>
            <a:ext cx="4736700" cy="269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FFFFFF"/>
              </a:buClr>
              <a:buSzPts val="4200"/>
              <a:buFont typeface="Montserrat"/>
              <a:buNone/>
              <a:defRPr sz="4200" b="1">
                <a:solidFill>
                  <a:srgbClr val="FFFFFF"/>
                </a:solidFill>
                <a:latin typeface="Montserrat"/>
                <a:ea typeface="Montserrat"/>
                <a:cs typeface="Montserrat"/>
                <a:sym typeface="Montserrat"/>
              </a:defRPr>
            </a:lvl1pPr>
            <a:lvl2pPr lvl="1"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2pPr>
            <a:lvl3pPr lvl="2"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3pPr>
            <a:lvl4pPr lvl="3"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4pPr>
            <a:lvl5pPr lvl="4"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5pPr>
            <a:lvl6pPr lvl="5"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6pPr>
            <a:lvl7pPr lvl="6"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7pPr>
            <a:lvl8pPr lvl="7"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8pPr>
            <a:lvl9pPr lvl="8"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9pPr>
          </a:lstStyle>
          <a:p>
            <a:endParaRPr/>
          </a:p>
        </p:txBody>
      </p:sp>
      <p:sp>
        <p:nvSpPr>
          <p:cNvPr id="30" name="Google Shape;30;p47"/>
          <p:cNvSpPr txBox="1">
            <a:spLocks noGrp="1"/>
          </p:cNvSpPr>
          <p:nvPr>
            <p:ph type="subTitle" idx="1"/>
          </p:nvPr>
        </p:nvSpPr>
        <p:spPr>
          <a:xfrm>
            <a:off x="1285900" y="2963125"/>
            <a:ext cx="3961500" cy="1066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solidFill>
                  <a:srgbClr val="90CCFA"/>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9pPr>
          </a:lstStyle>
          <a:p>
            <a:endParaRPr/>
          </a:p>
        </p:txBody>
      </p:sp>
      <p:pic>
        <p:nvPicPr>
          <p:cNvPr id="31" name="Google Shape;31;p47"/>
          <p:cNvPicPr preferRelativeResize="0"/>
          <p:nvPr/>
        </p:nvPicPr>
        <p:blipFill rotWithShape="1">
          <a:blip r:embed="rId2">
            <a:alphaModFix/>
          </a:blip>
          <a:srcRect/>
          <a:stretch/>
        </p:blipFill>
        <p:spPr>
          <a:xfrm>
            <a:off x="8450000" y="4545630"/>
            <a:ext cx="476544" cy="50437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4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rgbClr val="202020"/>
              </a:buClr>
              <a:buSzPts val="3300"/>
              <a:buFont typeface="Montserrat ExtraBold"/>
              <a:buNone/>
              <a:defRPr sz="3300" b="0" i="0" u="none" strike="noStrike" cap="none">
                <a:solidFill>
                  <a:srgbClr val="202020"/>
                </a:solidFill>
                <a:latin typeface="Montserrat ExtraBold"/>
                <a:ea typeface="Montserrat ExtraBold"/>
                <a:cs typeface="Montserrat ExtraBold"/>
                <a:sym typeface="Montserrat ExtraBold"/>
              </a:defRPr>
            </a:lvl9pPr>
          </a:lstStyle>
          <a:p>
            <a:endParaRPr/>
          </a:p>
        </p:txBody>
      </p:sp>
      <p:sp>
        <p:nvSpPr>
          <p:cNvPr id="7" name="Google Shape;7;p4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1pPr>
            <a:lvl2pPr marL="914400" marR="0" lvl="1"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2pPr>
            <a:lvl3pPr marL="1371600" marR="0" lvl="2"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3pPr>
            <a:lvl4pPr marL="1828800" marR="0" lvl="3"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4pPr>
            <a:lvl5pPr marL="2286000" marR="0" lvl="4"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5pPr>
            <a:lvl6pPr marL="2743200" marR="0" lvl="5"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6pPr>
            <a:lvl7pPr marL="3200400" marR="0" lvl="6"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7pPr>
            <a:lvl8pPr marL="3657600" marR="0" lvl="7"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8pPr>
            <a:lvl9pPr marL="4114800" marR="0" lvl="8" indent="-317500" algn="l" rtl="0">
              <a:lnSpc>
                <a:spcPct val="100000"/>
              </a:lnSpc>
              <a:spcBef>
                <a:spcPts val="0"/>
              </a:spcBef>
              <a:spcAft>
                <a:spcPts val="0"/>
              </a:spcAft>
              <a:buClr>
                <a:srgbClr val="666666"/>
              </a:buClr>
              <a:buSzPts val="1400"/>
              <a:buFont typeface="Spectral Light"/>
              <a:buChar char="■"/>
              <a:defRPr sz="1400" b="0" i="0" u="none" strike="noStrike" cap="none">
                <a:solidFill>
                  <a:srgbClr val="666666"/>
                </a:solidFill>
                <a:latin typeface="Spectral Light"/>
                <a:ea typeface="Spectral Light"/>
                <a:cs typeface="Spectral Light"/>
                <a:sym typeface="Spectral Ligh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www.inf.ufes.br/~jssalamon/wp-content/uploads/disciplinas/engreq/slides/Slide%202%20-%20Introdu%C3%A7%C3%A3o%20%C3%A0%20Engenharia%20de%20Requisitos.pdf" TargetMode="External"/><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hyperlink" Target="https://www.devmedia.com.br/introducao-a-engenharia-de-requisitos/8034#2" TargetMode="External"/><Relationship Id="rId4" Type="http://schemas.openxmlformats.org/officeDocument/2006/relationships/hyperlink" Target="https://slideplayer.com.br/slide/1594477/"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1"/>
          <p:cNvPicPr preferRelativeResize="0"/>
          <p:nvPr/>
        </p:nvPicPr>
        <p:blipFill rotWithShape="1">
          <a:blip r:embed="rId3">
            <a:alphaModFix/>
          </a:blip>
          <a:srcRect l="13106" t="15680" r="3517" b="17473"/>
          <a:stretch/>
        </p:blipFill>
        <p:spPr>
          <a:xfrm>
            <a:off x="1198475" y="534325"/>
            <a:ext cx="7624521" cy="4074852"/>
          </a:xfrm>
          <a:prstGeom prst="rect">
            <a:avLst/>
          </a:prstGeom>
          <a:noFill/>
          <a:ln>
            <a:noFill/>
          </a:ln>
        </p:spPr>
      </p:pic>
      <p:sp>
        <p:nvSpPr>
          <p:cNvPr id="37" name="Google Shape;37;p1"/>
          <p:cNvSpPr txBox="1">
            <a:spLocks noGrp="1"/>
          </p:cNvSpPr>
          <p:nvPr>
            <p:ph type="ctrTitle"/>
          </p:nvPr>
        </p:nvSpPr>
        <p:spPr>
          <a:xfrm>
            <a:off x="1483987" y="1323568"/>
            <a:ext cx="7780154" cy="2496363"/>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rgbClr val="252525"/>
              </a:buClr>
              <a:buSzPts val="4600"/>
              <a:buNone/>
            </a:pPr>
            <a:r>
              <a:rPr lang="pt-BR" sz="6000">
                <a:solidFill>
                  <a:srgbClr val="174584"/>
                </a:solidFill>
              </a:rPr>
              <a:t>Processo de Software</a:t>
            </a:r>
            <a:br>
              <a:rPr lang="pt-BR" sz="6000">
                <a:solidFill>
                  <a:srgbClr val="174584"/>
                </a:solidFill>
              </a:rPr>
            </a:br>
            <a:br>
              <a:rPr lang="pt-BR" sz="3200">
                <a:solidFill>
                  <a:srgbClr val="174584"/>
                </a:solidFill>
              </a:rPr>
            </a:br>
            <a:r>
              <a:rPr lang="pt-BR" sz="3200">
                <a:solidFill>
                  <a:srgbClr val="174584"/>
                </a:solidFill>
              </a:rPr>
              <a:t>				Tarik Ponciano</a:t>
            </a:r>
            <a:endParaRPr/>
          </a:p>
        </p:txBody>
      </p:sp>
      <p:pic>
        <p:nvPicPr>
          <p:cNvPr id="38" name="Google Shape;38;p1"/>
          <p:cNvPicPr preferRelativeResize="0"/>
          <p:nvPr/>
        </p:nvPicPr>
        <p:blipFill rotWithShape="1">
          <a:blip r:embed="rId4">
            <a:alphaModFix/>
          </a:blip>
          <a:srcRect/>
          <a:stretch/>
        </p:blipFill>
        <p:spPr>
          <a:xfrm>
            <a:off x="1588377" y="4333164"/>
            <a:ext cx="1571756" cy="5092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42"/>
        <p:cNvGrpSpPr/>
        <p:nvPr/>
      </p:nvGrpSpPr>
      <p:grpSpPr>
        <a:xfrm>
          <a:off x="0" y="0"/>
          <a:ext cx="0" cy="0"/>
          <a:chOff x="0" y="0"/>
          <a:chExt cx="0" cy="0"/>
        </a:xfrm>
      </p:grpSpPr>
      <p:sp>
        <p:nvSpPr>
          <p:cNvPr id="43" name="Google Shape;43;p2"/>
          <p:cNvSpPr txBox="1"/>
          <p:nvPr/>
        </p:nvSpPr>
        <p:spPr>
          <a:xfrm>
            <a:off x="1616529" y="513233"/>
            <a:ext cx="6774667" cy="3323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a:solidFill>
                  <a:srgbClr val="0D0D0D"/>
                </a:solidFill>
                <a:latin typeface="Arial"/>
                <a:ea typeface="Arial"/>
                <a:cs typeface="Arial"/>
                <a:sym typeface="Arial"/>
              </a:rPr>
              <a:t>Fase 1: Identificação do Problema e Análise de Aplicações Existente</a:t>
            </a:r>
            <a:endParaRPr/>
          </a:p>
          <a:p>
            <a:pPr marL="0" marR="0" lvl="0" indent="0" algn="l" rtl="0">
              <a:lnSpc>
                <a:spcPct val="100000"/>
              </a:lnSpc>
              <a:spcBef>
                <a:spcPts val="0"/>
              </a:spcBef>
              <a:spcAft>
                <a:spcPts val="0"/>
              </a:spcAft>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1" i="0" u="none" strike="noStrike" cap="none">
                <a:solidFill>
                  <a:srgbClr val="0D0D0D"/>
                </a:solidFill>
                <a:latin typeface="Arial"/>
                <a:ea typeface="Arial"/>
                <a:cs typeface="Arial"/>
                <a:sym typeface="Arial"/>
              </a:rPr>
              <a:t>Objetivo:</a:t>
            </a:r>
            <a:r>
              <a:rPr lang="pt-BR" sz="1400" b="0" i="0" u="none" strike="noStrike" cap="none">
                <a:solidFill>
                  <a:srgbClr val="0D0D0D"/>
                </a:solidFill>
                <a:latin typeface="Arial"/>
                <a:ea typeface="Arial"/>
                <a:cs typeface="Arial"/>
                <a:sym typeface="Arial"/>
              </a:rPr>
              <a:t> Identificar um problema que possa ser solucionado por meio de software e analisar aplicações existentes relacionadas a esse problema.</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1" i="0" u="none" strike="noStrike" cap="none">
                <a:solidFill>
                  <a:srgbClr val="0D0D0D"/>
                </a:solidFill>
                <a:latin typeface="Arial"/>
                <a:ea typeface="Arial"/>
                <a:cs typeface="Arial"/>
                <a:sym typeface="Arial"/>
              </a:rPr>
              <a:t>Instruções: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Individualmente, pense em um problema do cotidiano que você acredita que poderia ser resolvido ou melhorado com o uso de software.</a:t>
            </a:r>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Pesquise na internet por programas ou aplicativos que já abordem esse problema.</a:t>
            </a:r>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Ao final, proponha uma alteração ou melhoria para uma dessas aplicações existentes.</a:t>
            </a:r>
            <a:endParaRPr/>
          </a:p>
          <a:p>
            <a:pPr marL="457200" marR="0" lvl="0" indent="-36830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47"/>
        <p:cNvGrpSpPr/>
        <p:nvPr/>
      </p:nvGrpSpPr>
      <p:grpSpPr>
        <a:xfrm>
          <a:off x="0" y="0"/>
          <a:ext cx="0" cy="0"/>
          <a:chOff x="0" y="0"/>
          <a:chExt cx="0" cy="0"/>
        </a:xfrm>
      </p:grpSpPr>
      <p:sp>
        <p:nvSpPr>
          <p:cNvPr id="48" name="Google Shape;48;p3"/>
          <p:cNvSpPr txBox="1"/>
          <p:nvPr/>
        </p:nvSpPr>
        <p:spPr>
          <a:xfrm>
            <a:off x="1616529" y="371147"/>
            <a:ext cx="7180399"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a:solidFill>
                  <a:srgbClr val="0D0D0D"/>
                </a:solidFill>
                <a:latin typeface="Arial"/>
                <a:ea typeface="Arial"/>
                <a:cs typeface="Arial"/>
                <a:sym typeface="Arial"/>
              </a:rPr>
              <a:t>Fase 2: Planejamento do Software e Especificação de Requisitos</a:t>
            </a:r>
            <a:endParaRPr/>
          </a:p>
          <a:p>
            <a:pPr marL="0" marR="0" lvl="0" indent="0" algn="l" rtl="0">
              <a:lnSpc>
                <a:spcPct val="100000"/>
              </a:lnSpc>
              <a:spcBef>
                <a:spcPts val="0"/>
              </a:spcBef>
              <a:spcAft>
                <a:spcPts val="0"/>
              </a:spcAft>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1" i="0" u="none" strike="noStrike" cap="none">
                <a:solidFill>
                  <a:srgbClr val="0D0D0D"/>
                </a:solidFill>
                <a:latin typeface="Arial"/>
                <a:ea typeface="Arial"/>
                <a:cs typeface="Arial"/>
                <a:sym typeface="Arial"/>
              </a:rPr>
              <a:t>Objetivo:</a:t>
            </a:r>
            <a:r>
              <a:rPr lang="pt-BR" sz="1400" b="0" i="0" u="none" strike="noStrike" cap="none">
                <a:solidFill>
                  <a:srgbClr val="0D0D0D"/>
                </a:solidFill>
                <a:latin typeface="Arial"/>
                <a:ea typeface="Arial"/>
                <a:cs typeface="Arial"/>
                <a:sym typeface="Arial"/>
              </a:rPr>
              <a:t> Iniciar o planejamento de um software, identificando suas funcionalidades e especificando requisitos.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1" i="0" u="none" strike="noStrike" cap="none">
                <a:solidFill>
                  <a:srgbClr val="0D0D0D"/>
                </a:solidFill>
                <a:latin typeface="Arial"/>
                <a:ea typeface="Arial"/>
                <a:cs typeface="Arial"/>
                <a:sym typeface="Arial"/>
              </a:rPr>
              <a:t>Instruções:</a:t>
            </a: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Imagine as funcionalidades que sua aplicação deverá ter para resolver o problema identificado na Fase 1.</a:t>
            </a:r>
            <a:endParaRPr/>
          </a:p>
          <a:p>
            <a:pPr marL="742950" marR="0" lvl="1" indent="-19685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Imagine as especificações necessárias para cada funcionalidade. Lembre-se de considerar diversos aspectos relacionados ao funcionamento e às necessidades do usuário. Em geral, pense em requisitos que abordem aspectos como autenticação de usuário, segurança da informação, usabilidade e funcionalidades específicas do software, considerando sempre a experiência do usuário e os objetivos do sistema.</a:t>
            </a:r>
            <a:endParaRPr/>
          </a:p>
          <a:p>
            <a:pPr marL="742950" marR="0" lvl="1" indent="-19685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Escolha uma das funcionalidades listadas e desenhe a tela correspondente a essa funcionalidade, representando como você imagina que ela será visualizada pelos usuários.</a:t>
            </a:r>
            <a:endParaRPr/>
          </a:p>
          <a:p>
            <a:pPr marL="457200" marR="0" lvl="0" indent="-36830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52"/>
        <p:cNvGrpSpPr/>
        <p:nvPr/>
      </p:nvGrpSpPr>
      <p:grpSpPr>
        <a:xfrm>
          <a:off x="0" y="0"/>
          <a:ext cx="0" cy="0"/>
          <a:chOff x="0" y="0"/>
          <a:chExt cx="0" cy="0"/>
        </a:xfrm>
      </p:grpSpPr>
      <p:sp>
        <p:nvSpPr>
          <p:cNvPr id="53" name="Google Shape;53;p4"/>
          <p:cNvSpPr txBox="1"/>
          <p:nvPr/>
        </p:nvSpPr>
        <p:spPr>
          <a:xfrm>
            <a:off x="1596506" y="126116"/>
            <a:ext cx="6774667" cy="52322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a:solidFill>
                  <a:srgbClr val="0D0D0D"/>
                </a:solidFill>
                <a:latin typeface="Arial"/>
                <a:ea typeface="Arial"/>
                <a:cs typeface="Arial"/>
                <a:sym typeface="Arial"/>
              </a:rPr>
              <a:t>Fase 3: Colaboração e Construção de Telas</a:t>
            </a:r>
            <a:endParaRPr/>
          </a:p>
          <a:p>
            <a:pPr marL="0" marR="0" lvl="0" indent="0" algn="l" rtl="0">
              <a:lnSpc>
                <a:spcPct val="100000"/>
              </a:lnSpc>
              <a:spcBef>
                <a:spcPts val="0"/>
              </a:spcBef>
              <a:spcAft>
                <a:spcPts val="0"/>
              </a:spcAft>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1" i="0" u="none" strike="noStrike" cap="none">
                <a:solidFill>
                  <a:srgbClr val="0D0D0D"/>
                </a:solidFill>
                <a:latin typeface="Arial"/>
                <a:ea typeface="Arial"/>
                <a:cs typeface="Arial"/>
                <a:sym typeface="Arial"/>
              </a:rPr>
              <a:t>Objetivo:</a:t>
            </a:r>
            <a:r>
              <a:rPr lang="pt-BR" sz="1400" b="0" i="0" u="none" strike="noStrike" cap="none">
                <a:solidFill>
                  <a:srgbClr val="0D0D0D"/>
                </a:solidFill>
                <a:latin typeface="Arial"/>
                <a:ea typeface="Arial"/>
                <a:cs typeface="Arial"/>
                <a:sym typeface="Arial"/>
              </a:rPr>
              <a:t> Trabalhar em colaboração com outro aluno para construir as telas de uma aplicação, com base na explicação verbal do projeto.</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1" i="0" u="none" strike="noStrike" cap="none">
                <a:solidFill>
                  <a:srgbClr val="0D0D0D"/>
                </a:solidFill>
                <a:latin typeface="Arial"/>
                <a:ea typeface="Arial"/>
                <a:cs typeface="Arial"/>
                <a:sym typeface="Arial"/>
              </a:rPr>
              <a:t>Instruções: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Vocês serão divididos em pares.</a:t>
            </a:r>
            <a:endParaRPr/>
          </a:p>
          <a:p>
            <a:pPr marL="742950" marR="0" lvl="1" indent="-19685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Sem mostrar as telas desenhadas na Fase 2, explique verbalmente para o seu parceiro qual é o problema que seu software visa resolver e quais são suas funcionalidades.</a:t>
            </a:r>
            <a:endParaRPr/>
          </a:p>
          <a:p>
            <a:pPr marL="742950" marR="0" lvl="1" indent="-19685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Com base na explicação verbal recebida, o outro aluno deverá construir a tela da funcionalidade discutida.</a:t>
            </a:r>
            <a:endParaRPr/>
          </a:p>
          <a:p>
            <a:pPr marL="742950" marR="0" lvl="1" indent="-19685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Ao final, comparem os resultados e discutam se a tela construída correspondeu às expectativas de ambos os participantes.</a:t>
            </a:r>
            <a:endParaRPr/>
          </a:p>
          <a:p>
            <a:pPr marL="742950" marR="0" lvl="1" indent="-19685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742950" marR="0" lvl="1" indent="-28575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Compartilhem insights que cada um teve sobre o projeto do outro, discutindo possíveis melhorias ou sugestões.</a:t>
            </a:r>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5"/>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Objetivo da Aula</a:t>
            </a:r>
            <a:endParaRPr sz="2400" b="1" i="0" u="none" strike="noStrike" cap="none">
              <a:solidFill>
                <a:schemeClr val="dk1"/>
              </a:solidFill>
              <a:latin typeface="Times New Roman"/>
              <a:ea typeface="Times New Roman"/>
              <a:cs typeface="Times New Roman"/>
              <a:sym typeface="Times New Roman"/>
            </a:endParaRPr>
          </a:p>
        </p:txBody>
      </p:sp>
      <p:sp>
        <p:nvSpPr>
          <p:cNvPr id="59" name="Google Shape;59;p5"/>
          <p:cNvSpPr txBox="1"/>
          <p:nvPr/>
        </p:nvSpPr>
        <p:spPr>
          <a:xfrm>
            <a:off x="1669925" y="1167329"/>
            <a:ext cx="6774667" cy="224676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0000"/>
              </a:lnSpc>
              <a:spcBef>
                <a:spcPts val="0"/>
              </a:spcBef>
              <a:spcAft>
                <a:spcPts val="0"/>
              </a:spcAft>
              <a:buClr>
                <a:srgbClr val="000000"/>
              </a:buClr>
              <a:buSzPts val="2000"/>
              <a:buFont typeface="Arial"/>
              <a:buChar char="•"/>
            </a:pPr>
            <a:r>
              <a:rPr lang="pt-BR" sz="2000" b="0" i="0" u="none" strike="noStrike" cap="none">
                <a:solidFill>
                  <a:schemeClr val="dk1"/>
                </a:solidFill>
                <a:latin typeface="Times New Roman"/>
                <a:ea typeface="Times New Roman"/>
                <a:cs typeface="Times New Roman"/>
                <a:sym typeface="Times New Roman"/>
              </a:rPr>
              <a:t>Entender o que é Processo de Software.</a:t>
            </a:r>
            <a:endParaRPr sz="2000" b="0" i="0" u="none" strike="noStrike" cap="none">
              <a:solidFill>
                <a:schemeClr val="dk1"/>
              </a:solidFill>
              <a:latin typeface="Times New Roman"/>
              <a:ea typeface="Times New Roman"/>
              <a:cs typeface="Times New Roman"/>
              <a:sym typeface="Times New Roman"/>
            </a:endParaRPr>
          </a:p>
          <a:p>
            <a:pPr marL="342900" marR="0" lvl="0" indent="-2159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2000"/>
              <a:buFont typeface="Arial"/>
              <a:buChar char="•"/>
            </a:pPr>
            <a:r>
              <a:rPr lang="pt-BR" sz="2000" b="0" i="0" u="none" strike="noStrike" cap="none">
                <a:solidFill>
                  <a:schemeClr val="dk1"/>
                </a:solidFill>
                <a:latin typeface="Times New Roman"/>
                <a:ea typeface="Times New Roman"/>
                <a:cs typeface="Times New Roman"/>
                <a:sym typeface="Times New Roman"/>
              </a:rPr>
              <a:t>Compreender a importância do Processo de Software no desenvolvimento de software.</a:t>
            </a:r>
            <a:endParaRPr/>
          </a:p>
          <a:p>
            <a:pPr marL="342900" marR="0" lvl="0" indent="-2159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2000"/>
              <a:buFont typeface="Arial"/>
              <a:buChar char="•"/>
            </a:pPr>
            <a:r>
              <a:rPr lang="pt-BR" sz="2000" b="0" i="0" u="none" strike="noStrike" cap="none">
                <a:solidFill>
                  <a:schemeClr val="dk1"/>
                </a:solidFill>
                <a:latin typeface="Times New Roman"/>
                <a:ea typeface="Times New Roman"/>
                <a:cs typeface="Times New Roman"/>
                <a:sym typeface="Times New Roman"/>
              </a:rPr>
              <a:t>Adquirir noções de Engenharia de Requisitos</a:t>
            </a: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6"/>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Processo de Software</a:t>
            </a:r>
            <a:endParaRPr sz="2400" b="1" i="0" u="none" strike="noStrike" cap="none">
              <a:solidFill>
                <a:schemeClr val="dk1"/>
              </a:solidFill>
              <a:latin typeface="Times New Roman"/>
              <a:ea typeface="Times New Roman"/>
              <a:cs typeface="Times New Roman"/>
              <a:sym typeface="Times New Roman"/>
            </a:endParaRPr>
          </a:p>
        </p:txBody>
      </p:sp>
      <p:pic>
        <p:nvPicPr>
          <p:cNvPr id="65" name="Google Shape;65;p6"/>
          <p:cNvPicPr preferRelativeResize="0"/>
          <p:nvPr/>
        </p:nvPicPr>
        <p:blipFill rotWithShape="1">
          <a:blip r:embed="rId3">
            <a:alphaModFix/>
          </a:blip>
          <a:srcRect/>
          <a:stretch/>
        </p:blipFill>
        <p:spPr>
          <a:xfrm>
            <a:off x="2329383" y="1719125"/>
            <a:ext cx="6027031" cy="22876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7"/>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Modelo Cascata</a:t>
            </a:r>
            <a:endParaRPr sz="2400" b="1" i="0" u="none" strike="noStrike" cap="none">
              <a:solidFill>
                <a:schemeClr val="dk1"/>
              </a:solidFill>
              <a:latin typeface="Times New Roman"/>
              <a:ea typeface="Times New Roman"/>
              <a:cs typeface="Times New Roman"/>
              <a:sym typeface="Times New Roman"/>
            </a:endParaRPr>
          </a:p>
        </p:txBody>
      </p:sp>
      <p:sp>
        <p:nvSpPr>
          <p:cNvPr id="71" name="Google Shape;71;p7"/>
          <p:cNvSpPr txBox="1"/>
          <p:nvPr/>
        </p:nvSpPr>
        <p:spPr>
          <a:xfrm>
            <a:off x="1669924" y="1167329"/>
            <a:ext cx="7474075" cy="13234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72" name="Google Shape;72;p7"/>
          <p:cNvPicPr preferRelativeResize="0"/>
          <p:nvPr/>
        </p:nvPicPr>
        <p:blipFill rotWithShape="1">
          <a:blip r:embed="rId3">
            <a:alphaModFix/>
          </a:blip>
          <a:srcRect/>
          <a:stretch/>
        </p:blipFill>
        <p:spPr>
          <a:xfrm>
            <a:off x="3227469" y="2971666"/>
            <a:ext cx="3774031" cy="2009010"/>
          </a:xfrm>
          <a:prstGeom prst="rect">
            <a:avLst/>
          </a:prstGeom>
          <a:noFill/>
          <a:ln>
            <a:noFill/>
          </a:ln>
        </p:spPr>
      </p:pic>
      <p:sp>
        <p:nvSpPr>
          <p:cNvPr id="73" name="Google Shape;73;p7"/>
          <p:cNvSpPr txBox="1"/>
          <p:nvPr/>
        </p:nvSpPr>
        <p:spPr>
          <a:xfrm>
            <a:off x="1848823" y="1167329"/>
            <a:ext cx="7021523"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O primeiro modelo do processo de desenvolvimento de software a ser publicado foi derivado de processos mais gerais da engenharia de sistemas Por causa do encadeamento entre uma fase e outra, esse modelo é conhecido como 'modelo em cascata', ou ciclo de vida de software.</a:t>
            </a:r>
            <a:endParaRPr/>
          </a:p>
          <a:p>
            <a:pPr marL="0" marR="0" lvl="0" indent="0" algn="l" rtl="0">
              <a:lnSpc>
                <a:spcPct val="100000"/>
              </a:lnSpc>
              <a:spcBef>
                <a:spcPts val="0"/>
              </a:spcBef>
              <a:spcAft>
                <a:spcPts val="0"/>
              </a:spcAft>
              <a:buNone/>
            </a:pPr>
            <a:br>
              <a:rPr lang="pt-BR" sz="1400" b="0" i="0" u="none" strike="noStrike" cap="none">
                <a:solidFill>
                  <a:srgbClr val="000000"/>
                </a:solidFill>
                <a:latin typeface="Arial"/>
                <a:ea typeface="Arial"/>
                <a:cs typeface="Arial"/>
                <a:sym typeface="Arial"/>
              </a:rPr>
            </a:br>
            <a:r>
              <a:rPr lang="pt-BR" sz="1400" b="0" i="0" u="none" strike="noStrike" cap="none">
                <a:solidFill>
                  <a:srgbClr val="000000"/>
                </a:solidFill>
                <a:latin typeface="Arial"/>
                <a:ea typeface="Arial"/>
                <a:cs typeface="Arial"/>
                <a:sym typeface="Arial"/>
              </a:rPr>
              <a:t>O modelo em cascata é um exemplo de um processo dirigido a planos — em princípio, você deve planejar e programar todas as atividades do processo antes de começar a trabalhar nelas.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8"/>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Processo de Software</a:t>
            </a:r>
            <a:endParaRPr sz="2400" b="1" i="0" u="none" strike="noStrike" cap="none">
              <a:solidFill>
                <a:schemeClr val="dk1"/>
              </a:solidFill>
              <a:latin typeface="Times New Roman"/>
              <a:ea typeface="Times New Roman"/>
              <a:cs typeface="Times New Roman"/>
              <a:sym typeface="Times New Roman"/>
            </a:endParaRPr>
          </a:p>
        </p:txBody>
      </p:sp>
      <p:pic>
        <p:nvPicPr>
          <p:cNvPr id="79" name="Google Shape;79;p8"/>
          <p:cNvPicPr preferRelativeResize="0"/>
          <p:nvPr/>
        </p:nvPicPr>
        <p:blipFill rotWithShape="1">
          <a:blip r:embed="rId3">
            <a:alphaModFix/>
          </a:blip>
          <a:srcRect/>
          <a:stretch/>
        </p:blipFill>
        <p:spPr>
          <a:xfrm>
            <a:off x="2529618" y="1392650"/>
            <a:ext cx="5434378" cy="327583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9"/>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Introdução</a:t>
            </a:r>
            <a:endParaRPr sz="2400" b="1" i="0" u="none" strike="noStrike" cap="none">
              <a:solidFill>
                <a:schemeClr val="dk1"/>
              </a:solidFill>
              <a:latin typeface="Times New Roman"/>
              <a:ea typeface="Times New Roman"/>
              <a:cs typeface="Times New Roman"/>
              <a:sym typeface="Times New Roman"/>
            </a:endParaRPr>
          </a:p>
        </p:txBody>
      </p:sp>
      <p:sp>
        <p:nvSpPr>
          <p:cNvPr id="85" name="Google Shape;85;p9"/>
          <p:cNvSpPr txBox="1"/>
          <p:nvPr/>
        </p:nvSpPr>
        <p:spPr>
          <a:xfrm>
            <a:off x="1669924" y="1167329"/>
            <a:ext cx="7474075"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O processo de desenvolvimento de software engloba as atividades que contribuem diretamente para o desenvolvimento do produto de software a ser entregue ao cliente, incluindo a sua documentação. </a:t>
            </a:r>
            <a:endParaRPr/>
          </a:p>
          <a:p>
            <a:pPr marL="0" marR="0" lvl="0" indent="0" algn="l"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De maneira geral, o processo de desenvolvimento de software envolve as seguintes atividades:</a:t>
            </a:r>
            <a:endParaRPr/>
          </a:p>
          <a:p>
            <a:pPr marL="0" marR="0" lvl="0" indent="0" algn="l"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2000" b="1" i="0" u="none" strike="noStrike" cap="none">
                <a:solidFill>
                  <a:schemeClr val="dk1"/>
                </a:solidFill>
                <a:latin typeface="Times New Roman"/>
                <a:ea typeface="Times New Roman"/>
                <a:cs typeface="Times New Roman"/>
                <a:sym typeface="Times New Roman"/>
              </a:rPr>
              <a:t>Análise e Especificação de Requisitos, Projeto, Implementação, Testes, Entrega e Implantação do Sistema.</a:t>
            </a:r>
            <a:endParaRPr/>
          </a:p>
          <a:p>
            <a:pPr marL="0" marR="0" lvl="0" indent="0" algn="l"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Mas o que é feito em cada etapa do processo?</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0"/>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Análise e Especificação de Requisitos</a:t>
            </a:r>
            <a:endParaRPr sz="2400" b="1" i="0" u="none" strike="noStrike" cap="none">
              <a:solidFill>
                <a:schemeClr val="dk1"/>
              </a:solidFill>
              <a:latin typeface="Times New Roman"/>
              <a:ea typeface="Times New Roman"/>
              <a:cs typeface="Times New Roman"/>
              <a:sym typeface="Times New Roman"/>
            </a:endParaRPr>
          </a:p>
        </p:txBody>
      </p:sp>
      <p:sp>
        <p:nvSpPr>
          <p:cNvPr id="91" name="Google Shape;91;p10"/>
          <p:cNvSpPr txBox="1"/>
          <p:nvPr/>
        </p:nvSpPr>
        <p:spPr>
          <a:xfrm>
            <a:off x="1669925" y="1347539"/>
            <a:ext cx="4706740" cy="501675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Na Análise e Especificação de Requisitos, o foco está no levantamento, compreensão e especificação dos requisitos que o produto de software deve ser capaz de satisfazer.</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Para entender a natureza do software a ser construído, o engenheiro de software tem de compreender o domínio do problema, bem como a funcionalidade e o comportamento esperados para o sistema.</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92" name="Google Shape;92;p10"/>
          <p:cNvPicPr preferRelativeResize="0"/>
          <p:nvPr/>
        </p:nvPicPr>
        <p:blipFill rotWithShape="1">
          <a:blip r:embed="rId3">
            <a:alphaModFix/>
          </a:blip>
          <a:srcRect/>
          <a:stretch/>
        </p:blipFill>
        <p:spPr>
          <a:xfrm>
            <a:off x="6754789" y="1594012"/>
            <a:ext cx="2295525" cy="1047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1"/>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Análise e Especificação de Requisitos</a:t>
            </a:r>
            <a:endParaRPr sz="2400" b="1" i="0" u="none" strike="noStrike" cap="none">
              <a:solidFill>
                <a:schemeClr val="dk1"/>
              </a:solidFill>
              <a:latin typeface="Times New Roman"/>
              <a:ea typeface="Times New Roman"/>
              <a:cs typeface="Times New Roman"/>
              <a:sym typeface="Times New Roman"/>
            </a:endParaRPr>
          </a:p>
        </p:txBody>
      </p:sp>
      <p:sp>
        <p:nvSpPr>
          <p:cNvPr id="98" name="Google Shape;98;p11"/>
          <p:cNvSpPr txBox="1"/>
          <p:nvPr/>
        </p:nvSpPr>
        <p:spPr>
          <a:xfrm>
            <a:off x="1669925" y="1347539"/>
            <a:ext cx="4706740" cy="409342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Uma vez capturados os requisitos do sistema, estes devem ser modelados, avaliados e documentados. Uma parte vital desta fase é a construção de modelos descrevendo o quê o software tem de fazer (e não como fazê-lo), ditos modelos conceituais.</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99" name="Google Shape;99;p11"/>
          <p:cNvPicPr preferRelativeResize="0"/>
          <p:nvPr/>
        </p:nvPicPr>
        <p:blipFill rotWithShape="1">
          <a:blip r:embed="rId3">
            <a:alphaModFix/>
          </a:blip>
          <a:srcRect/>
          <a:stretch/>
        </p:blipFill>
        <p:spPr>
          <a:xfrm>
            <a:off x="6754789" y="1594012"/>
            <a:ext cx="2295525" cy="104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2"/>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Análise e Especificação de Requisitos</a:t>
            </a:r>
            <a:endParaRPr sz="2400" b="1" i="0" u="none" strike="noStrike" cap="none">
              <a:solidFill>
                <a:schemeClr val="dk1"/>
              </a:solidFill>
              <a:latin typeface="Times New Roman"/>
              <a:ea typeface="Times New Roman"/>
              <a:cs typeface="Times New Roman"/>
              <a:sym typeface="Times New Roman"/>
            </a:endParaRPr>
          </a:p>
        </p:txBody>
      </p:sp>
      <p:pic>
        <p:nvPicPr>
          <p:cNvPr id="105" name="Google Shape;105;p12" descr="Requisitos e Casos de Uso - ppt carregar"/>
          <p:cNvPicPr preferRelativeResize="0"/>
          <p:nvPr/>
        </p:nvPicPr>
        <p:blipFill rotWithShape="1">
          <a:blip r:embed="rId3">
            <a:alphaModFix/>
          </a:blip>
          <a:srcRect/>
          <a:stretch/>
        </p:blipFill>
        <p:spPr>
          <a:xfrm>
            <a:off x="2836642" y="1175120"/>
            <a:ext cx="5092608" cy="38194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3"/>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Projeto</a:t>
            </a:r>
            <a:endParaRPr sz="2400" b="1" i="0" u="none" strike="noStrike" cap="none">
              <a:solidFill>
                <a:schemeClr val="dk1"/>
              </a:solidFill>
              <a:latin typeface="Times New Roman"/>
              <a:ea typeface="Times New Roman"/>
              <a:cs typeface="Times New Roman"/>
              <a:sym typeface="Times New Roman"/>
            </a:endParaRPr>
          </a:p>
        </p:txBody>
      </p:sp>
      <p:sp>
        <p:nvSpPr>
          <p:cNvPr id="111" name="Google Shape;111;p13"/>
          <p:cNvSpPr txBox="1"/>
          <p:nvPr/>
        </p:nvSpPr>
        <p:spPr>
          <a:xfrm>
            <a:off x="1669925" y="1347539"/>
            <a:ext cx="4706740" cy="224676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A fase de Projeto é responsável por incorporar requisitos tecnológicos aos requisitos essenciais do sistema e, portanto, requer que a plataforma de implementação seja conhecida.</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12" name="Google Shape;112;p13"/>
          <p:cNvPicPr preferRelativeResize="0"/>
          <p:nvPr/>
        </p:nvPicPr>
        <p:blipFill rotWithShape="1">
          <a:blip r:embed="rId3">
            <a:alphaModFix/>
          </a:blip>
          <a:srcRect/>
          <a:stretch/>
        </p:blipFill>
        <p:spPr>
          <a:xfrm>
            <a:off x="6892832" y="1300514"/>
            <a:ext cx="1885950" cy="923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4"/>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Projeto</a:t>
            </a:r>
            <a:endParaRPr sz="2400" b="1" i="0" u="none" strike="noStrike" cap="none">
              <a:solidFill>
                <a:schemeClr val="dk1"/>
              </a:solidFill>
              <a:latin typeface="Times New Roman"/>
              <a:ea typeface="Times New Roman"/>
              <a:cs typeface="Times New Roman"/>
              <a:sym typeface="Times New Roman"/>
            </a:endParaRPr>
          </a:p>
        </p:txBody>
      </p:sp>
      <p:sp>
        <p:nvSpPr>
          <p:cNvPr id="118" name="Google Shape;118;p14"/>
          <p:cNvSpPr txBox="1"/>
          <p:nvPr/>
        </p:nvSpPr>
        <p:spPr>
          <a:xfrm>
            <a:off x="1444870" y="1176550"/>
            <a:ext cx="7414005" cy="563231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Basicamente, envolve duas grandes etapas: projeto da arquitetura do sistema e o projeto detalhado. </a:t>
            </a:r>
            <a:endParaRPr/>
          </a:p>
          <a:p>
            <a:pPr marL="0" marR="0" lvl="0" indent="0" algn="just" rtl="0">
              <a:lnSpc>
                <a:spcPct val="100000"/>
              </a:lnSpc>
              <a:spcBef>
                <a:spcPts val="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O objetivo da primeira etapa é definir a arquitetura geral do software, tendo por base o modelo construído na fase de análise de requisitos. </a:t>
            </a:r>
            <a:endParaRPr/>
          </a:p>
          <a:p>
            <a:pPr marL="0" marR="0" lvl="0" indent="0" algn="just" rtl="0">
              <a:lnSpc>
                <a:spcPct val="100000"/>
              </a:lnSpc>
              <a:spcBef>
                <a:spcPts val="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Essa arquitetura deve descrever a estrutura de nível mais alto da aplicação e identificar seus principais componentes. </a:t>
            </a:r>
            <a:endParaRPr/>
          </a:p>
          <a:p>
            <a:pPr marL="0" marR="0" lvl="0" indent="0" algn="just" rtl="0">
              <a:lnSpc>
                <a:spcPct val="100000"/>
              </a:lnSpc>
              <a:spcBef>
                <a:spcPts val="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O propósito do projeto detalhado é detalhar o projeto do software para cada componente identificado na etapa anterior. </a:t>
            </a:r>
            <a:endParaRPr/>
          </a:p>
          <a:p>
            <a:pPr marL="0" marR="0" lvl="0" indent="0" algn="just" rtl="0">
              <a:lnSpc>
                <a:spcPct val="100000"/>
              </a:lnSpc>
              <a:spcBef>
                <a:spcPts val="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Os componentes de software devem ser sucessivamente refinados em níveis maiores de detalhamento, até que possam ser codificados e</a:t>
            </a:r>
            <a:endParaRPr/>
          </a:p>
          <a:p>
            <a:pPr marL="0" marR="0" lvl="0" indent="0" algn="just"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testados.</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19" name="Google Shape;119;p14"/>
          <p:cNvPicPr preferRelativeResize="0"/>
          <p:nvPr/>
        </p:nvPicPr>
        <p:blipFill rotWithShape="1">
          <a:blip r:embed="rId3">
            <a:alphaModFix/>
          </a:blip>
          <a:srcRect/>
          <a:stretch/>
        </p:blipFill>
        <p:spPr>
          <a:xfrm>
            <a:off x="6972925" y="252625"/>
            <a:ext cx="1885950" cy="923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5"/>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Projeto</a:t>
            </a:r>
            <a:endParaRPr sz="2400" b="1" i="0" u="none" strike="noStrike" cap="none">
              <a:solidFill>
                <a:schemeClr val="dk1"/>
              </a:solidFill>
              <a:latin typeface="Times New Roman"/>
              <a:ea typeface="Times New Roman"/>
              <a:cs typeface="Times New Roman"/>
              <a:sym typeface="Times New Roman"/>
            </a:endParaRPr>
          </a:p>
        </p:txBody>
      </p:sp>
      <p:pic>
        <p:nvPicPr>
          <p:cNvPr id="125" name="Google Shape;125;p15"/>
          <p:cNvPicPr preferRelativeResize="0"/>
          <p:nvPr/>
        </p:nvPicPr>
        <p:blipFill rotWithShape="1">
          <a:blip r:embed="rId3">
            <a:alphaModFix/>
          </a:blip>
          <a:srcRect/>
          <a:stretch/>
        </p:blipFill>
        <p:spPr>
          <a:xfrm>
            <a:off x="6972925" y="252625"/>
            <a:ext cx="1885950" cy="923925"/>
          </a:xfrm>
          <a:prstGeom prst="rect">
            <a:avLst/>
          </a:prstGeom>
          <a:noFill/>
          <a:ln>
            <a:noFill/>
          </a:ln>
        </p:spPr>
      </p:pic>
      <p:pic>
        <p:nvPicPr>
          <p:cNvPr id="126" name="Google Shape;126;p15" descr="Tarefa: Processo Implementação de Software"/>
          <p:cNvPicPr preferRelativeResize="0"/>
          <p:nvPr/>
        </p:nvPicPr>
        <p:blipFill rotWithShape="1">
          <a:blip r:embed="rId4">
            <a:alphaModFix/>
          </a:blip>
          <a:srcRect/>
          <a:stretch/>
        </p:blipFill>
        <p:spPr>
          <a:xfrm>
            <a:off x="2617548" y="1176550"/>
            <a:ext cx="5186683" cy="38552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Projeto</a:t>
            </a:r>
            <a:endParaRPr sz="2400" b="1" i="0" u="none" strike="noStrike" cap="none">
              <a:solidFill>
                <a:schemeClr val="dk1"/>
              </a:solidFill>
              <a:latin typeface="Times New Roman"/>
              <a:ea typeface="Times New Roman"/>
              <a:cs typeface="Times New Roman"/>
              <a:sym typeface="Times New Roman"/>
            </a:endParaRPr>
          </a:p>
        </p:txBody>
      </p:sp>
      <p:pic>
        <p:nvPicPr>
          <p:cNvPr id="132" name="Google Shape;132;p16"/>
          <p:cNvPicPr preferRelativeResize="0"/>
          <p:nvPr/>
        </p:nvPicPr>
        <p:blipFill rotWithShape="1">
          <a:blip r:embed="rId3">
            <a:alphaModFix/>
          </a:blip>
          <a:srcRect/>
          <a:stretch/>
        </p:blipFill>
        <p:spPr>
          <a:xfrm>
            <a:off x="6972925" y="252625"/>
            <a:ext cx="1885950" cy="923925"/>
          </a:xfrm>
          <a:prstGeom prst="rect">
            <a:avLst/>
          </a:prstGeom>
          <a:noFill/>
          <a:ln>
            <a:noFill/>
          </a:ln>
        </p:spPr>
      </p:pic>
      <p:pic>
        <p:nvPicPr>
          <p:cNvPr id="133" name="Google Shape;133;p16"/>
          <p:cNvPicPr preferRelativeResize="0"/>
          <p:nvPr/>
        </p:nvPicPr>
        <p:blipFill rotWithShape="1">
          <a:blip r:embed="rId4">
            <a:alphaModFix/>
          </a:blip>
          <a:srcRect/>
          <a:stretch/>
        </p:blipFill>
        <p:spPr>
          <a:xfrm>
            <a:off x="3194241" y="1176550"/>
            <a:ext cx="4278805" cy="38552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Implementação</a:t>
            </a:r>
            <a:endParaRPr sz="2400" b="1" i="0" u="none" strike="noStrike" cap="none">
              <a:solidFill>
                <a:schemeClr val="dk1"/>
              </a:solidFill>
              <a:latin typeface="Times New Roman"/>
              <a:ea typeface="Times New Roman"/>
              <a:cs typeface="Times New Roman"/>
              <a:sym typeface="Times New Roman"/>
            </a:endParaRPr>
          </a:p>
        </p:txBody>
      </p:sp>
      <p:sp>
        <p:nvSpPr>
          <p:cNvPr id="139" name="Google Shape;139;p17"/>
          <p:cNvSpPr txBox="1"/>
          <p:nvPr/>
        </p:nvSpPr>
        <p:spPr>
          <a:xfrm>
            <a:off x="1669925" y="1856970"/>
            <a:ext cx="6759910" cy="19389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O projeto deve ser traduzido para uma forma passível de execução pela máquina. A fase de implementação realiza esta tarefa, isto é, cada unidade de software do projeto detalhado é implementada.</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40" name="Google Shape;140;p17"/>
          <p:cNvPicPr preferRelativeResize="0"/>
          <p:nvPr/>
        </p:nvPicPr>
        <p:blipFill rotWithShape="1">
          <a:blip r:embed="rId3">
            <a:alphaModFix/>
          </a:blip>
          <a:srcRect/>
          <a:stretch/>
        </p:blipFill>
        <p:spPr>
          <a:xfrm>
            <a:off x="6454900" y="467891"/>
            <a:ext cx="2038350" cy="1066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Implementação</a:t>
            </a:r>
            <a:endParaRPr sz="2400" b="1" i="0" u="none" strike="noStrike" cap="none">
              <a:solidFill>
                <a:schemeClr val="dk1"/>
              </a:solidFill>
              <a:latin typeface="Times New Roman"/>
              <a:ea typeface="Times New Roman"/>
              <a:cs typeface="Times New Roman"/>
              <a:sym typeface="Times New Roman"/>
            </a:endParaRPr>
          </a:p>
        </p:txBody>
      </p:sp>
      <p:sp>
        <p:nvSpPr>
          <p:cNvPr id="146" name="Google Shape;146;p18"/>
          <p:cNvSpPr txBox="1"/>
          <p:nvPr/>
        </p:nvSpPr>
        <p:spPr>
          <a:xfrm>
            <a:off x="1669925" y="1856970"/>
            <a:ext cx="6759910" cy="70788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47" name="Google Shape;147;p18"/>
          <p:cNvPicPr preferRelativeResize="0"/>
          <p:nvPr/>
        </p:nvPicPr>
        <p:blipFill rotWithShape="1">
          <a:blip r:embed="rId3">
            <a:alphaModFix/>
          </a:blip>
          <a:srcRect/>
          <a:stretch/>
        </p:blipFill>
        <p:spPr>
          <a:xfrm>
            <a:off x="6454900" y="467891"/>
            <a:ext cx="2038350" cy="1066800"/>
          </a:xfrm>
          <a:prstGeom prst="rect">
            <a:avLst/>
          </a:prstGeom>
          <a:noFill/>
          <a:ln>
            <a:noFill/>
          </a:ln>
        </p:spPr>
      </p:pic>
      <p:pic>
        <p:nvPicPr>
          <p:cNvPr id="148" name="Google Shape;148;p18" descr="Bug] Problemas em compilar o código - API | Java | Solucionado"/>
          <p:cNvPicPr preferRelativeResize="0"/>
          <p:nvPr/>
        </p:nvPicPr>
        <p:blipFill rotWithShape="1">
          <a:blip r:embed="rId4">
            <a:alphaModFix/>
          </a:blip>
          <a:srcRect/>
          <a:stretch/>
        </p:blipFill>
        <p:spPr>
          <a:xfrm>
            <a:off x="3203737" y="1483621"/>
            <a:ext cx="4758699" cy="34663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Implementação</a:t>
            </a:r>
            <a:endParaRPr sz="2400" b="1" i="0" u="none" strike="noStrike" cap="none">
              <a:solidFill>
                <a:schemeClr val="dk1"/>
              </a:solidFill>
              <a:latin typeface="Times New Roman"/>
              <a:ea typeface="Times New Roman"/>
              <a:cs typeface="Times New Roman"/>
              <a:sym typeface="Times New Roman"/>
            </a:endParaRPr>
          </a:p>
        </p:txBody>
      </p:sp>
      <p:pic>
        <p:nvPicPr>
          <p:cNvPr id="154" name="Google Shape;154;p19"/>
          <p:cNvPicPr preferRelativeResize="0"/>
          <p:nvPr/>
        </p:nvPicPr>
        <p:blipFill rotWithShape="1">
          <a:blip r:embed="rId3">
            <a:alphaModFix/>
          </a:blip>
          <a:srcRect/>
          <a:stretch/>
        </p:blipFill>
        <p:spPr>
          <a:xfrm>
            <a:off x="6454900" y="467891"/>
            <a:ext cx="2038350" cy="1066800"/>
          </a:xfrm>
          <a:prstGeom prst="rect">
            <a:avLst/>
          </a:prstGeom>
          <a:noFill/>
          <a:ln>
            <a:noFill/>
          </a:ln>
        </p:spPr>
      </p:pic>
      <p:pic>
        <p:nvPicPr>
          <p:cNvPr id="155" name="Google Shape;155;p19"/>
          <p:cNvPicPr preferRelativeResize="0"/>
          <p:nvPr/>
        </p:nvPicPr>
        <p:blipFill rotWithShape="1">
          <a:blip r:embed="rId4">
            <a:alphaModFix/>
          </a:blip>
          <a:srcRect/>
          <a:stretch/>
        </p:blipFill>
        <p:spPr>
          <a:xfrm>
            <a:off x="2732121" y="1591008"/>
            <a:ext cx="4741954" cy="297023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Testes</a:t>
            </a:r>
            <a:endParaRPr sz="2400" b="1" i="0" u="none" strike="noStrike" cap="none">
              <a:solidFill>
                <a:schemeClr val="dk1"/>
              </a:solidFill>
              <a:latin typeface="Times New Roman"/>
              <a:ea typeface="Times New Roman"/>
              <a:cs typeface="Times New Roman"/>
              <a:sym typeface="Times New Roman"/>
            </a:endParaRPr>
          </a:p>
        </p:txBody>
      </p:sp>
      <p:sp>
        <p:nvSpPr>
          <p:cNvPr id="161" name="Google Shape;161;p20"/>
          <p:cNvSpPr txBox="1"/>
          <p:nvPr/>
        </p:nvSpPr>
        <p:spPr>
          <a:xfrm>
            <a:off x="1669925" y="1606426"/>
            <a:ext cx="6759910"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A fase de Testes inclui diversos níveis de testes, a saber, teste de unidade, teste de integração e teste de sistema. </a:t>
            </a:r>
            <a:endParaRPr/>
          </a:p>
          <a:p>
            <a:pPr marL="0" marR="0" lvl="0" indent="0" algn="l"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Inicialmente, cada unidade de software implementada deve ser testada. </a:t>
            </a:r>
            <a:endParaRPr/>
          </a:p>
          <a:p>
            <a:pPr marL="0" marR="0" lvl="0" indent="0" algn="l"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A seguir, os diversos componentes devem ser integrados sucessivamente até se obter o sistema.</a:t>
            </a:r>
            <a:endParaRPr/>
          </a:p>
          <a:p>
            <a:pPr marL="0" marR="0" lvl="0" indent="0" algn="l"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Finalmente, o sistema como um todo deve ser testado.</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62" name="Google Shape;162;p20"/>
          <p:cNvPicPr preferRelativeResize="0"/>
          <p:nvPr/>
        </p:nvPicPr>
        <p:blipFill rotWithShape="1">
          <a:blip r:embed="rId3">
            <a:alphaModFix/>
          </a:blip>
          <a:srcRect/>
          <a:stretch/>
        </p:blipFill>
        <p:spPr>
          <a:xfrm>
            <a:off x="6454900" y="467891"/>
            <a:ext cx="2038350" cy="1066800"/>
          </a:xfrm>
          <a:prstGeom prst="rect">
            <a:avLst/>
          </a:prstGeom>
          <a:noFill/>
          <a:ln>
            <a:noFill/>
          </a:ln>
        </p:spPr>
      </p:pic>
      <p:pic>
        <p:nvPicPr>
          <p:cNvPr id="163" name="Google Shape;163;p20"/>
          <p:cNvPicPr preferRelativeResize="0"/>
          <p:nvPr/>
        </p:nvPicPr>
        <p:blipFill rotWithShape="1">
          <a:blip r:embed="rId4">
            <a:alphaModFix/>
          </a:blip>
          <a:srcRect/>
          <a:stretch/>
        </p:blipFill>
        <p:spPr>
          <a:xfrm>
            <a:off x="6454900" y="525041"/>
            <a:ext cx="2038350" cy="1009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Testes</a:t>
            </a:r>
            <a:endParaRPr sz="2400" b="1" i="0" u="none" strike="noStrike" cap="none">
              <a:solidFill>
                <a:schemeClr val="dk1"/>
              </a:solidFill>
              <a:latin typeface="Times New Roman"/>
              <a:ea typeface="Times New Roman"/>
              <a:cs typeface="Times New Roman"/>
              <a:sym typeface="Times New Roman"/>
            </a:endParaRPr>
          </a:p>
        </p:txBody>
      </p:sp>
      <p:pic>
        <p:nvPicPr>
          <p:cNvPr id="169" name="Google Shape;169;p21"/>
          <p:cNvPicPr preferRelativeResize="0"/>
          <p:nvPr/>
        </p:nvPicPr>
        <p:blipFill rotWithShape="1">
          <a:blip r:embed="rId3">
            <a:alphaModFix/>
          </a:blip>
          <a:srcRect/>
          <a:stretch/>
        </p:blipFill>
        <p:spPr>
          <a:xfrm>
            <a:off x="6454900" y="467891"/>
            <a:ext cx="2038350" cy="1066800"/>
          </a:xfrm>
          <a:prstGeom prst="rect">
            <a:avLst/>
          </a:prstGeom>
          <a:noFill/>
          <a:ln>
            <a:noFill/>
          </a:ln>
        </p:spPr>
      </p:pic>
      <p:pic>
        <p:nvPicPr>
          <p:cNvPr id="170" name="Google Shape;170;p21"/>
          <p:cNvPicPr preferRelativeResize="0"/>
          <p:nvPr/>
        </p:nvPicPr>
        <p:blipFill rotWithShape="1">
          <a:blip r:embed="rId4">
            <a:alphaModFix/>
          </a:blip>
          <a:srcRect/>
          <a:stretch/>
        </p:blipFill>
        <p:spPr>
          <a:xfrm>
            <a:off x="6454900" y="525041"/>
            <a:ext cx="2038350" cy="1009650"/>
          </a:xfrm>
          <a:prstGeom prst="rect">
            <a:avLst/>
          </a:prstGeom>
          <a:noFill/>
          <a:ln>
            <a:noFill/>
          </a:ln>
        </p:spPr>
      </p:pic>
      <p:pic>
        <p:nvPicPr>
          <p:cNvPr id="171" name="Google Shape;171;p21" descr="Teste de Integração na Prática"/>
          <p:cNvPicPr preferRelativeResize="0"/>
          <p:nvPr/>
        </p:nvPicPr>
        <p:blipFill rotWithShape="1">
          <a:blip r:embed="rId5">
            <a:alphaModFix/>
          </a:blip>
          <a:srcRect/>
          <a:stretch/>
        </p:blipFill>
        <p:spPr>
          <a:xfrm>
            <a:off x="1828799" y="1990700"/>
            <a:ext cx="6591091" cy="26131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Entrega e Implantação</a:t>
            </a:r>
            <a:endParaRPr sz="2400" b="1" i="0" u="none" strike="noStrike" cap="none">
              <a:solidFill>
                <a:schemeClr val="dk1"/>
              </a:solidFill>
              <a:latin typeface="Times New Roman"/>
              <a:ea typeface="Times New Roman"/>
              <a:cs typeface="Times New Roman"/>
              <a:sym typeface="Times New Roman"/>
            </a:endParaRPr>
          </a:p>
        </p:txBody>
      </p:sp>
      <p:sp>
        <p:nvSpPr>
          <p:cNvPr id="177" name="Google Shape;177;p22"/>
          <p:cNvSpPr txBox="1"/>
          <p:nvPr/>
        </p:nvSpPr>
        <p:spPr>
          <a:xfrm>
            <a:off x="1669925" y="1606426"/>
            <a:ext cx="6759910"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Uma vez testado, o software deve ser colocado em produção. Para tal, contudo, é necessário treinar os usuários, configurar o ambiente de produção e, muitas vezes, converter bases de dados.</a:t>
            </a:r>
            <a:endParaRPr/>
          </a:p>
          <a:p>
            <a:pPr marL="0" marR="0" lvl="0" indent="0" algn="l" rtl="0">
              <a:lnSpc>
                <a:spcPct val="100000"/>
              </a:lnSpc>
              <a:spcBef>
                <a:spcPts val="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O propósito da fase de Implantação e Entrega é disponibilizar o software para o cliente, garantindo que o mesmo satisfaz os requisitos estabelecidos.</a:t>
            </a:r>
            <a:endParaRPr/>
          </a:p>
          <a:p>
            <a:pPr marL="0" marR="0" lvl="0" indent="0" algn="l" rtl="0">
              <a:lnSpc>
                <a:spcPct val="100000"/>
              </a:lnSpc>
              <a:spcBef>
                <a:spcPts val="0"/>
              </a:spcBef>
              <a:spcAft>
                <a:spcPts val="0"/>
              </a:spcAft>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Isto requer a instalação do software e a condução de testes de aceitação. Quando o software tiver demonstrado prover as</a:t>
            </a:r>
            <a:endParaRPr/>
          </a:p>
          <a:p>
            <a:pPr marL="0" marR="0" lvl="0" indent="0" algn="l" rtl="0">
              <a:lnSpc>
                <a:spcPct val="100000"/>
              </a:lnSpc>
              <a:spcBef>
                <a:spcPts val="0"/>
              </a:spcBef>
              <a:spcAft>
                <a:spcPts val="0"/>
              </a:spcAft>
              <a:buNone/>
            </a:pPr>
            <a:r>
              <a:rPr lang="pt-BR" sz="1600" b="0" i="0" u="none" strike="noStrike" cap="none">
                <a:solidFill>
                  <a:schemeClr val="dk1"/>
                </a:solidFill>
                <a:latin typeface="Times New Roman"/>
                <a:ea typeface="Times New Roman"/>
                <a:cs typeface="Times New Roman"/>
                <a:sym typeface="Times New Roman"/>
              </a:rPr>
              <a:t>capacidades requeridas, ele pode ser aceito e a operação iniciada.</a:t>
            </a:r>
            <a:endParaRPr/>
          </a:p>
          <a:p>
            <a:pPr marL="0" marR="0" lvl="0" indent="0" algn="just" rtl="0">
              <a:lnSpc>
                <a:spcPct val="10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78" name="Google Shape;178;p22"/>
          <p:cNvPicPr preferRelativeResize="0"/>
          <p:nvPr/>
        </p:nvPicPr>
        <p:blipFill rotWithShape="1">
          <a:blip r:embed="rId3">
            <a:alphaModFix/>
          </a:blip>
          <a:srcRect/>
          <a:stretch/>
        </p:blipFill>
        <p:spPr>
          <a:xfrm>
            <a:off x="6343860" y="477416"/>
            <a:ext cx="2085975" cy="1047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3"/>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sp>
        <p:nvSpPr>
          <p:cNvPr id="184" name="Google Shape;184;p23"/>
          <p:cNvSpPr txBox="1"/>
          <p:nvPr/>
        </p:nvSpPr>
        <p:spPr>
          <a:xfrm>
            <a:off x="1669924" y="1096218"/>
            <a:ext cx="6427153"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0" i="0" u="none" strike="noStrike" cap="none">
                <a:solidFill>
                  <a:schemeClr val="dk1"/>
                </a:solidFill>
                <a:latin typeface="Times New Roman"/>
                <a:ea typeface="Times New Roman"/>
                <a:cs typeface="Times New Roman"/>
                <a:sym typeface="Times New Roman"/>
              </a:rPr>
              <a:t>O processo de levantar, analisar, documentar, gerenciar e controlar a qualidade dos requisitos é chamado de Engenharia de Requisitos.</a:t>
            </a:r>
            <a:endParaRPr sz="20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85" name="Google Shape;185;p23"/>
          <p:cNvPicPr preferRelativeResize="0"/>
          <p:nvPr/>
        </p:nvPicPr>
        <p:blipFill rotWithShape="1">
          <a:blip r:embed="rId3">
            <a:alphaModFix/>
          </a:blip>
          <a:srcRect/>
          <a:stretch/>
        </p:blipFill>
        <p:spPr>
          <a:xfrm>
            <a:off x="5078651" y="2514584"/>
            <a:ext cx="3505689" cy="2133898"/>
          </a:xfrm>
          <a:prstGeom prst="rect">
            <a:avLst/>
          </a:prstGeom>
          <a:noFill/>
          <a:ln>
            <a:noFill/>
          </a:ln>
        </p:spPr>
      </p:pic>
      <p:sp>
        <p:nvSpPr>
          <p:cNvPr id="186" name="Google Shape;186;p23"/>
          <p:cNvSpPr txBox="1"/>
          <p:nvPr/>
        </p:nvSpPr>
        <p:spPr>
          <a:xfrm>
            <a:off x="1669924" y="2304260"/>
            <a:ext cx="3226753"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600" b="0" i="0" u="none" strike="noStrike" cap="none">
                <a:solidFill>
                  <a:srgbClr val="000000"/>
                </a:solidFill>
                <a:latin typeface="Arial"/>
                <a:ea typeface="Arial"/>
                <a:cs typeface="Arial"/>
                <a:sym typeface="Arial"/>
              </a:rPr>
              <a:t>Que requisitos o software deverá atender?</a:t>
            </a:r>
            <a:br>
              <a:rPr lang="pt-BR" sz="1600" b="0" i="0" u="none" strike="noStrike" cap="none">
                <a:solidFill>
                  <a:srgbClr val="000000"/>
                </a:solidFill>
                <a:latin typeface="Arial"/>
                <a:ea typeface="Arial"/>
                <a:cs typeface="Arial"/>
                <a:sym typeface="Arial"/>
              </a:rPr>
            </a:br>
            <a:br>
              <a:rPr lang="pt-BR" sz="1600" b="0" i="0" u="none" strike="noStrike" cap="none">
                <a:solidFill>
                  <a:srgbClr val="000000"/>
                </a:solidFill>
                <a:latin typeface="Arial"/>
                <a:ea typeface="Arial"/>
                <a:cs typeface="Arial"/>
                <a:sym typeface="Arial"/>
              </a:rPr>
            </a:br>
            <a:r>
              <a:rPr lang="pt-BR" sz="1600" b="0" i="0" u="none" strike="noStrike" cap="none">
                <a:solidFill>
                  <a:srgbClr val="000000"/>
                </a:solidFill>
                <a:latin typeface="Arial"/>
                <a:ea typeface="Arial"/>
                <a:cs typeface="Arial"/>
                <a:sym typeface="Arial"/>
              </a:rPr>
              <a:t>Quem são os envolvidos? </a:t>
            </a:r>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600" b="0" i="0" u="none" strike="noStrike" cap="none">
                <a:solidFill>
                  <a:srgbClr val="000000"/>
                </a:solidFill>
                <a:latin typeface="Arial"/>
                <a:ea typeface="Arial"/>
                <a:cs typeface="Arial"/>
                <a:sym typeface="Arial"/>
              </a:rPr>
              <a:t>Quais são suas necessidades em relação ao software? </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600" b="0" i="0" u="none" strike="noStrike" cap="none">
                <a:solidFill>
                  <a:srgbClr val="000000"/>
                </a:solidFill>
                <a:latin typeface="Arial"/>
                <a:ea typeface="Arial"/>
                <a:cs typeface="Arial"/>
                <a:sym typeface="Arial"/>
              </a:rPr>
              <a:t>Mas... O que é um </a:t>
            </a:r>
            <a:r>
              <a:rPr lang="pt-BR" sz="1600" b="0" i="0" u="none" strike="noStrike" cap="none">
                <a:solidFill>
                  <a:srgbClr val="FF0000"/>
                </a:solidFill>
                <a:latin typeface="Arial"/>
                <a:ea typeface="Arial"/>
                <a:cs typeface="Arial"/>
                <a:sym typeface="Arial"/>
              </a:rPr>
              <a:t>requisito</a:t>
            </a:r>
            <a:r>
              <a:rPr lang="pt-BR"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4"/>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pic>
        <p:nvPicPr>
          <p:cNvPr id="192" name="Google Shape;192;p24"/>
          <p:cNvPicPr preferRelativeResize="0"/>
          <p:nvPr/>
        </p:nvPicPr>
        <p:blipFill rotWithShape="1">
          <a:blip r:embed="rId3">
            <a:alphaModFix/>
          </a:blip>
          <a:srcRect/>
          <a:stretch/>
        </p:blipFill>
        <p:spPr>
          <a:xfrm>
            <a:off x="2143112" y="1378226"/>
            <a:ext cx="5952889" cy="318124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pic>
        <p:nvPicPr>
          <p:cNvPr id="198" name="Google Shape;198;p25"/>
          <p:cNvPicPr preferRelativeResize="0"/>
          <p:nvPr/>
        </p:nvPicPr>
        <p:blipFill rotWithShape="1">
          <a:blip r:embed="rId3">
            <a:alphaModFix/>
          </a:blip>
          <a:srcRect/>
          <a:stretch/>
        </p:blipFill>
        <p:spPr>
          <a:xfrm>
            <a:off x="1488721" y="1882561"/>
            <a:ext cx="7357724" cy="249728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6"/>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sp>
        <p:nvSpPr>
          <p:cNvPr id="204" name="Google Shape;204;p26"/>
          <p:cNvSpPr/>
          <p:nvPr/>
        </p:nvSpPr>
        <p:spPr>
          <a:xfrm>
            <a:off x="1590414" y="1292940"/>
            <a:ext cx="7082158"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1" i="0" u="none" strike="noStrike" cap="none">
                <a:solidFill>
                  <a:srgbClr val="000000"/>
                </a:solidFill>
                <a:latin typeface="Arial"/>
                <a:ea typeface="Arial"/>
                <a:cs typeface="Arial"/>
                <a:sym typeface="Arial"/>
              </a:rPr>
              <a:t>Os requisitos de um sistema definem o que o sistema deve fazer e as circunstâncias sob as quais deve operar.</a:t>
            </a:r>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2000" b="0" i="0" u="none" strike="noStrike" cap="none">
                <a:solidFill>
                  <a:srgbClr val="000000"/>
                </a:solidFill>
                <a:latin typeface="Arial"/>
                <a:ea typeface="Arial"/>
                <a:cs typeface="Arial"/>
                <a:sym typeface="Arial"/>
              </a:rPr>
              <a:t>Ou, em outras palavras... </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2000" b="1" i="0" u="none" strike="noStrike" cap="none">
                <a:solidFill>
                  <a:srgbClr val="000000"/>
                </a:solidFill>
                <a:latin typeface="Arial"/>
                <a:ea typeface="Arial"/>
                <a:cs typeface="Arial"/>
                <a:sym typeface="Arial"/>
              </a:rPr>
              <a:t>São as funções que um sistema deve incorporar e as restrições que devem ser satisfeitas. </a:t>
            </a:r>
            <a:endParaRPr/>
          </a:p>
        </p:txBody>
      </p:sp>
      <p:sp>
        <p:nvSpPr>
          <p:cNvPr id="205" name="Google Shape;205;p26"/>
          <p:cNvSpPr/>
          <p:nvPr/>
        </p:nvSpPr>
        <p:spPr>
          <a:xfrm>
            <a:off x="1598167" y="3885445"/>
            <a:ext cx="7074405"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0" i="0" u="none" strike="noStrike" cap="none">
                <a:solidFill>
                  <a:srgbClr val="FF0000"/>
                </a:solidFill>
                <a:latin typeface="Arial"/>
                <a:ea typeface="Arial"/>
                <a:cs typeface="Arial"/>
                <a:sym typeface="Arial"/>
              </a:rPr>
              <a:t>Uma das principais medidas do sucesso de um sistema de software é o grau no qual ele atende aos requisitos para os quais foi construído.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7"/>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sp>
        <p:nvSpPr>
          <p:cNvPr id="211" name="Google Shape;211;p27"/>
          <p:cNvSpPr/>
          <p:nvPr/>
        </p:nvSpPr>
        <p:spPr>
          <a:xfrm>
            <a:off x="1590414" y="1292940"/>
            <a:ext cx="7082158" cy="3477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000" b="1" i="0" u="none" strike="noStrike" cap="none">
                <a:solidFill>
                  <a:srgbClr val="000000"/>
                </a:solidFill>
                <a:latin typeface="Arial"/>
                <a:ea typeface="Arial"/>
                <a:cs typeface="Arial"/>
                <a:sym typeface="Arial"/>
              </a:rPr>
              <a:t>Requisitos são importantes para:</a:t>
            </a:r>
            <a:endParaRPr/>
          </a:p>
          <a:p>
            <a:pPr marL="0" marR="0" lvl="0" indent="0" algn="l" rtl="0">
              <a:lnSpc>
                <a:spcPct val="100000"/>
              </a:lnSpc>
              <a:spcBef>
                <a:spcPts val="0"/>
              </a:spcBef>
              <a:spcAft>
                <a:spcPts val="0"/>
              </a:spcAft>
              <a:buNone/>
            </a:pPr>
            <a:endParaRPr sz="2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2000" b="1" i="0" u="none" strike="noStrike" cap="none">
                <a:solidFill>
                  <a:srgbClr val="000000"/>
                </a:solidFill>
                <a:latin typeface="Arial"/>
                <a:ea typeface="Arial"/>
                <a:cs typeface="Arial"/>
                <a:sym typeface="Arial"/>
              </a:rPr>
              <a:t>Estabelecer uma base de concordância entre o cliente e o fornecedor sobre o que o software fará;</a:t>
            </a:r>
            <a:endParaRPr/>
          </a:p>
          <a:p>
            <a:pPr marL="0" marR="0" lvl="0" indent="0" algn="l" rtl="0">
              <a:lnSpc>
                <a:spcPct val="100000"/>
              </a:lnSpc>
              <a:spcBef>
                <a:spcPts val="0"/>
              </a:spcBef>
              <a:spcAft>
                <a:spcPts val="0"/>
              </a:spcAft>
              <a:buNone/>
            </a:pPr>
            <a:endParaRPr sz="2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2000" b="1" i="0" u="none" strike="noStrike" cap="none">
                <a:solidFill>
                  <a:srgbClr val="000000"/>
                </a:solidFill>
                <a:latin typeface="Arial"/>
                <a:ea typeface="Arial"/>
                <a:cs typeface="Arial"/>
                <a:sym typeface="Arial"/>
              </a:rPr>
              <a:t>Fornecer uma referência para a validação do produto final;</a:t>
            </a:r>
            <a:endParaRPr/>
          </a:p>
          <a:p>
            <a:pPr marL="0" marR="0" lvl="0" indent="0" algn="l" rtl="0">
              <a:lnSpc>
                <a:spcPct val="100000"/>
              </a:lnSpc>
              <a:spcBef>
                <a:spcPts val="0"/>
              </a:spcBef>
              <a:spcAft>
                <a:spcPts val="0"/>
              </a:spcAft>
              <a:buNone/>
            </a:pPr>
            <a:endParaRPr sz="20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2000" b="1" i="0" u="none" strike="noStrike" cap="none">
                <a:solidFill>
                  <a:srgbClr val="000000"/>
                </a:solidFill>
                <a:latin typeface="Arial"/>
                <a:ea typeface="Arial"/>
                <a:cs typeface="Arial"/>
                <a:sym typeface="Arial"/>
              </a:rPr>
              <a:t>Reduzir o custo de desenvolvimento (como vimos anteriormente, requisitos mal definidos causam retrabalho).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8"/>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pic>
        <p:nvPicPr>
          <p:cNvPr id="217" name="Google Shape;217;p28" descr="O custo efetivo dos bugs no desenvolvimento de softwares"/>
          <p:cNvPicPr preferRelativeResize="0"/>
          <p:nvPr/>
        </p:nvPicPr>
        <p:blipFill rotWithShape="1">
          <a:blip r:embed="rId3">
            <a:alphaModFix/>
          </a:blip>
          <a:srcRect/>
          <a:stretch/>
        </p:blipFill>
        <p:spPr>
          <a:xfrm>
            <a:off x="2113723" y="1213295"/>
            <a:ext cx="5645426" cy="37597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Engenharia de Requisitos de Software</a:t>
            </a:r>
            <a:endParaRPr sz="2400" b="1" i="0" u="none" strike="noStrike" cap="none">
              <a:solidFill>
                <a:schemeClr val="dk1"/>
              </a:solidFill>
              <a:latin typeface="Times New Roman"/>
              <a:ea typeface="Times New Roman"/>
              <a:cs typeface="Times New Roman"/>
              <a:sym typeface="Times New Roman"/>
            </a:endParaRPr>
          </a:p>
        </p:txBody>
      </p:sp>
      <p:pic>
        <p:nvPicPr>
          <p:cNvPr id="223" name="Google Shape;223;p29" descr="O custo efetivo dos bugs no desenvolvimento de softwares"/>
          <p:cNvPicPr preferRelativeResize="0"/>
          <p:nvPr/>
        </p:nvPicPr>
        <p:blipFill rotWithShape="1">
          <a:blip r:embed="rId3">
            <a:alphaModFix/>
          </a:blip>
          <a:srcRect/>
          <a:stretch/>
        </p:blipFill>
        <p:spPr>
          <a:xfrm>
            <a:off x="3001617" y="1144552"/>
            <a:ext cx="4145308" cy="38742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0"/>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sp>
        <p:nvSpPr>
          <p:cNvPr id="229" name="Google Shape;229;p30"/>
          <p:cNvSpPr/>
          <p:nvPr/>
        </p:nvSpPr>
        <p:spPr>
          <a:xfrm>
            <a:off x="1590414" y="1292940"/>
            <a:ext cx="7082158"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a:solidFill>
                  <a:srgbClr val="000000"/>
                </a:solidFill>
                <a:latin typeface="Arial"/>
                <a:ea typeface="Arial"/>
                <a:cs typeface="Arial"/>
                <a:sym typeface="Arial"/>
              </a:rPr>
              <a:t>Requisitos Funcionais: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Esses requisitos descrevem as funcionalidades específicas que o sistema deve realizar para atender às necessidades do usuário ou do cliente. Eles definem as ações que o sistema deve ser capaz de executar em resposta a entradas específicas.</a:t>
            </a:r>
            <a:endParaRPr/>
          </a:p>
        </p:txBody>
      </p:sp>
      <p:sp>
        <p:nvSpPr>
          <p:cNvPr id="230" name="Google Shape;230;p30"/>
          <p:cNvSpPr/>
          <p:nvPr/>
        </p:nvSpPr>
        <p:spPr>
          <a:xfrm>
            <a:off x="1590414" y="2815045"/>
            <a:ext cx="7082158" cy="1815882"/>
          </a:xfrm>
          <a:prstGeom prst="rect">
            <a:avLst/>
          </a:prstGeom>
          <a:noFill/>
          <a:ln>
            <a:noFill/>
          </a:ln>
        </p:spPr>
        <p:txBody>
          <a:bodyPr spcFirstLastPara="1" wrap="square" lIns="91425" tIns="45700" rIns="91425" bIns="45700" anchor="t" anchorCtr="0">
            <a:spAutoFit/>
          </a:bodyPr>
          <a:lstStyle/>
          <a:p>
            <a:pPr marL="0" marR="0" lvl="0" indent="-8890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Um sistema de gerenciamento de biblioteca deve permitir que os usuários façam buscas por livros por título, autor ou categoria.</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Um aplicativo de delivery de comida deve permitir que os clientes façam pedidos de alimentos de restaurantes locais.</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D0D0D"/>
              </a:solidFill>
              <a:latin typeface="Arial"/>
              <a:ea typeface="Arial"/>
              <a:cs typeface="Arial"/>
              <a:sym typeface="Arial"/>
            </a:endParaRPr>
          </a:p>
          <a:p>
            <a:pPr marL="0" marR="0" lvl="0" indent="-88900" algn="l" rtl="0">
              <a:lnSpc>
                <a:spcPct val="100000"/>
              </a:lnSpc>
              <a:spcBef>
                <a:spcPts val="0"/>
              </a:spcBef>
              <a:spcAft>
                <a:spcPts val="0"/>
              </a:spcAft>
              <a:buClr>
                <a:srgbClr val="000000"/>
              </a:buClr>
              <a:buSzPts val="1400"/>
              <a:buFont typeface="Arial"/>
              <a:buAutoNum type="arabicPeriod"/>
            </a:pPr>
            <a:r>
              <a:rPr lang="pt-BR" sz="1400" b="0" i="0" u="none" strike="noStrike" cap="none">
                <a:solidFill>
                  <a:srgbClr val="0D0D0D"/>
                </a:solidFill>
                <a:latin typeface="Arial"/>
                <a:ea typeface="Arial"/>
                <a:cs typeface="Arial"/>
                <a:sym typeface="Arial"/>
              </a:rPr>
              <a:t>Um sistema de reservas de passagens aéreas deve permitir que os usuários selecionem voos, escolham assentos e façam pagamentos.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1"/>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36" name="Google Shape;236;p31" descr="Requisitos Funcionais - DEV Community"/>
          <p:cNvPicPr preferRelativeResize="0"/>
          <p:nvPr/>
        </p:nvPicPr>
        <p:blipFill rotWithShape="1">
          <a:blip r:embed="rId3">
            <a:alphaModFix/>
          </a:blip>
          <a:srcRect/>
          <a:stretch/>
        </p:blipFill>
        <p:spPr>
          <a:xfrm>
            <a:off x="2093843" y="1305360"/>
            <a:ext cx="6125679" cy="34686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42" name="Google Shape;242;p35" descr="Principais funcionalidades e requisitos funcionais | Download Table"/>
          <p:cNvPicPr preferRelativeResize="0"/>
          <p:nvPr/>
        </p:nvPicPr>
        <p:blipFill rotWithShape="1">
          <a:blip r:embed="rId3">
            <a:alphaModFix/>
          </a:blip>
          <a:srcRect/>
          <a:stretch/>
        </p:blipFill>
        <p:spPr>
          <a:xfrm>
            <a:off x="2325757" y="1590330"/>
            <a:ext cx="5866434" cy="293321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2"/>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sp>
        <p:nvSpPr>
          <p:cNvPr id="248" name="Google Shape;248;p32"/>
          <p:cNvSpPr/>
          <p:nvPr/>
        </p:nvSpPr>
        <p:spPr>
          <a:xfrm>
            <a:off x="1669925" y="1167045"/>
            <a:ext cx="7082158"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a:solidFill>
                  <a:srgbClr val="000000"/>
                </a:solidFill>
                <a:latin typeface="Arial"/>
                <a:ea typeface="Arial"/>
                <a:cs typeface="Arial"/>
                <a:sym typeface="Arial"/>
              </a:rPr>
              <a:t>Requisitos Não Funcionais: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Enquanto os requisitos funcionais definem o que o sistema deve fazer, os requisitos não funcionais especificam as qualidades que o sistema deve ter para atender aos padrões de desempenho, segurança, usabilidade, entre outros. Esses requisitos se concentram em características do sistema que não estão diretamente relacionadas às suas funcionalidades principais, mas são igualmente importantes para a satisfação do usuário e o sucesso do projeto.</a:t>
            </a:r>
            <a:endParaRPr/>
          </a:p>
        </p:txBody>
      </p:sp>
      <p:sp>
        <p:nvSpPr>
          <p:cNvPr id="249" name="Google Shape;249;p32"/>
          <p:cNvSpPr/>
          <p:nvPr/>
        </p:nvSpPr>
        <p:spPr>
          <a:xfrm>
            <a:off x="1669925" y="3148681"/>
            <a:ext cx="7082158"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1. O tempo de resposta de um sistema de busca de um site de comércio eletrônico deve ser inferior a 1 segundo.</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2. Um sistema de gestão de banco de dados deve ser capaz de lidar com uma carga de trabalho de pelo menos 1000 transações por segundo.</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3. Um aplicativo de saúde mental deve garantir a confidencialidade dos dados dos pacientes por meio de criptografia de ponta a ponta.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55" name="Google Shape;255;p33" descr="Requisitos não funcionais: o guia completo! – Insights para te ajudar na  carreira em tecnologia | Blog da Trybe"/>
          <p:cNvPicPr preferRelativeResize="0"/>
          <p:nvPr/>
        </p:nvPicPr>
        <p:blipFill rotWithShape="1">
          <a:blip r:embed="rId3">
            <a:alphaModFix/>
          </a:blip>
          <a:srcRect/>
          <a:stretch/>
        </p:blipFill>
        <p:spPr>
          <a:xfrm>
            <a:off x="2027223" y="1219200"/>
            <a:ext cx="6501654" cy="363793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4"/>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61" name="Google Shape;261;p34" descr="Requisitos Funcionais e Não Funcionais para o EBSERH (TI)"/>
          <p:cNvPicPr preferRelativeResize="0"/>
          <p:nvPr/>
        </p:nvPicPr>
        <p:blipFill rotWithShape="1">
          <a:blip r:embed="rId3">
            <a:alphaModFix/>
          </a:blip>
          <a:srcRect/>
          <a:stretch/>
        </p:blipFill>
        <p:spPr>
          <a:xfrm>
            <a:off x="3246781" y="1611679"/>
            <a:ext cx="3896829" cy="293002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1f4f08aab51_0_19"/>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67" name="Google Shape;267;g1f4f08aab51_0_19" descr="Requisitos Funcionais e Não Funcionais para o EBSERH (TI)"/>
          <p:cNvPicPr preferRelativeResize="0"/>
          <p:nvPr/>
        </p:nvPicPr>
        <p:blipFill rotWithShape="1">
          <a:blip r:embed="rId3">
            <a:alphaModFix/>
          </a:blip>
          <a:srcRect/>
          <a:stretch/>
        </p:blipFill>
        <p:spPr>
          <a:xfrm>
            <a:off x="3246781" y="1611679"/>
            <a:ext cx="3896829" cy="2930021"/>
          </a:xfrm>
          <a:prstGeom prst="rect">
            <a:avLst/>
          </a:prstGeom>
          <a:noFill/>
          <a:ln>
            <a:noFill/>
          </a:ln>
        </p:spPr>
      </p:pic>
      <p:pic>
        <p:nvPicPr>
          <p:cNvPr id="268" name="Google Shape;268;g1f4f08aab51_0_19"/>
          <p:cNvPicPr preferRelativeResize="0"/>
          <p:nvPr/>
        </p:nvPicPr>
        <p:blipFill>
          <a:blip r:embed="rId4">
            <a:alphaModFix/>
          </a:blip>
          <a:stretch>
            <a:fillRect/>
          </a:stretch>
        </p:blipFill>
        <p:spPr>
          <a:xfrm>
            <a:off x="1533101" y="1308675"/>
            <a:ext cx="7324176" cy="3324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sp>
        <p:nvSpPr>
          <p:cNvPr id="274" name="Google Shape;274;p36"/>
          <p:cNvSpPr/>
          <p:nvPr/>
        </p:nvSpPr>
        <p:spPr>
          <a:xfrm>
            <a:off x="1669925" y="1167045"/>
            <a:ext cx="7082158"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1" i="0" u="none" strike="noStrike" cap="none">
                <a:solidFill>
                  <a:srgbClr val="000000"/>
                </a:solidFill>
                <a:latin typeface="Arial"/>
                <a:ea typeface="Arial"/>
                <a:cs typeface="Arial"/>
                <a:sym typeface="Arial"/>
              </a:rPr>
              <a:t>Requisitos de Domínio:</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Estes requisitos são específicos para o domínio de aplicação do sistema e derivam das características únicas do ambiente em que o sistema será utilizado. Eles podem incluir regulamentos legais, padrões da indústria, restrições de hardware ou software, entre outros aspectos. Requisitos de domínio são essenciais para garantir que o sistema seja adequado ao contexto em que será implantado.</a:t>
            </a:r>
            <a:endParaRPr/>
          </a:p>
        </p:txBody>
      </p:sp>
      <p:sp>
        <p:nvSpPr>
          <p:cNvPr id="275" name="Google Shape;275;p36"/>
          <p:cNvSpPr/>
          <p:nvPr/>
        </p:nvSpPr>
        <p:spPr>
          <a:xfrm>
            <a:off x="1669925" y="3291046"/>
            <a:ext cx="7082158"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Um aplicativo de mensagens deve cumprir as regulamentações de privacidade de dados, garantindo a proteção das conversas e informações dos usuários contra acesso não autorizado ou vazamento de dados.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7"/>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sp>
        <p:nvSpPr>
          <p:cNvPr id="281" name="Google Shape;281;p37"/>
          <p:cNvSpPr/>
          <p:nvPr/>
        </p:nvSpPr>
        <p:spPr>
          <a:xfrm>
            <a:off x="1669925" y="1240790"/>
            <a:ext cx="7082158" cy="28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Um aplicativo de mensagens deve cumprir as regulamentações de privacidade de dados, garantindo a proteção das conversas e informações dos usuários contra acesso não autorizado ou vazamento de dados.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Um aplicativo de governo eletrônico deve seguir diretrizes de acessibilidade estabelecidas, garantindo que pessoas com deficiências possam utilizar o aplicativo de forma eficaz, por exemplo, através do suporte a leitores de tela para usuários com deficiência visual.</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Um aplicativo financeiro, como um sistema de gerenciamento de despesas, deve cumprir as normas e regulamentações estabelecidas pelo órgão regulador financeiro local, assegurando a conformidade com leis de combate à lavagem de dinheiro e fraudes financeiras.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8"/>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87" name="Google Shape;287;p38" descr="Especificações de Casos de Uso e Regras de Negócio - ppt carregar"/>
          <p:cNvPicPr preferRelativeResize="0"/>
          <p:nvPr/>
        </p:nvPicPr>
        <p:blipFill rotWithShape="1">
          <a:blip r:embed="rId3">
            <a:alphaModFix/>
          </a:blip>
          <a:srcRect/>
          <a:stretch/>
        </p:blipFill>
        <p:spPr>
          <a:xfrm>
            <a:off x="2723322" y="1363215"/>
            <a:ext cx="4475782" cy="335683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9"/>
          <p:cNvSpPr txBox="1"/>
          <p:nvPr/>
        </p:nvSpPr>
        <p:spPr>
          <a:xfrm>
            <a:off x="1669925" y="539626"/>
            <a:ext cx="79422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i="0" u="none" strike="noStrike" cap="none">
                <a:solidFill>
                  <a:schemeClr val="dk1"/>
                </a:solidFill>
                <a:latin typeface="Times New Roman"/>
                <a:ea typeface="Times New Roman"/>
                <a:cs typeface="Times New Roman"/>
                <a:sym typeface="Times New Roman"/>
              </a:rPr>
              <a:t>Tipos de Requisito</a:t>
            </a:r>
            <a:endParaRPr sz="2400" b="1" i="0" u="none" strike="noStrike" cap="none">
              <a:solidFill>
                <a:schemeClr val="dk1"/>
              </a:solidFill>
              <a:latin typeface="Times New Roman"/>
              <a:ea typeface="Times New Roman"/>
              <a:cs typeface="Times New Roman"/>
              <a:sym typeface="Times New Roman"/>
            </a:endParaRPr>
          </a:p>
        </p:txBody>
      </p:sp>
      <p:pic>
        <p:nvPicPr>
          <p:cNvPr id="293" name="Google Shape;293;p39" descr="Requisitos funcionais e regras de negócio para sistema de e-commerce | PDF  | Fazer login | Informática"/>
          <p:cNvPicPr preferRelativeResize="0"/>
          <p:nvPr/>
        </p:nvPicPr>
        <p:blipFill rotWithShape="1">
          <a:blip r:embed="rId3">
            <a:alphaModFix/>
          </a:blip>
          <a:srcRect/>
          <a:stretch/>
        </p:blipFill>
        <p:spPr>
          <a:xfrm>
            <a:off x="4651513" y="258072"/>
            <a:ext cx="3591340" cy="4788454"/>
          </a:xfrm>
          <a:prstGeom prst="rect">
            <a:avLst/>
          </a:prstGeom>
          <a:noFill/>
          <a:ln>
            <a:noFill/>
          </a:ln>
        </p:spPr>
      </p:pic>
      <p:sp>
        <p:nvSpPr>
          <p:cNvPr id="294" name="Google Shape;294;p39"/>
          <p:cNvSpPr/>
          <p:nvPr/>
        </p:nvSpPr>
        <p:spPr>
          <a:xfrm>
            <a:off x="1437861" y="3719792"/>
            <a:ext cx="277633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1400" b="0" i="0" u="none" strike="noStrike" cap="none">
                <a:solidFill>
                  <a:srgbClr val="000000"/>
                </a:solidFill>
                <a:latin typeface="Arial"/>
                <a:ea typeface="Arial"/>
                <a:cs typeface="Arial"/>
                <a:sym typeface="Arial"/>
              </a:rPr>
              <a:t>https://imgv2-2-f.scribdassets.com/img/document/534244696/original/1f08dd41ac/1708441362?v=1</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1f4f08aab51_0_0"/>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Exemplos de Documento</a:t>
            </a:r>
            <a:endParaRPr sz="2400" b="1" i="0" u="none" strike="noStrike" cap="none">
              <a:solidFill>
                <a:schemeClr val="dk1"/>
              </a:solidFill>
              <a:latin typeface="Times New Roman"/>
              <a:ea typeface="Times New Roman"/>
              <a:cs typeface="Times New Roman"/>
              <a:sym typeface="Times New Roman"/>
            </a:endParaRPr>
          </a:p>
        </p:txBody>
      </p:sp>
      <p:sp>
        <p:nvSpPr>
          <p:cNvPr id="300" name="Google Shape;300;g1f4f08aab51_0_0"/>
          <p:cNvSpPr txBox="1"/>
          <p:nvPr/>
        </p:nvSpPr>
        <p:spPr>
          <a:xfrm>
            <a:off x="2970825" y="1252325"/>
            <a:ext cx="4345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a:t>https://www2.ufjf.br/diavi//files/2016/07/DocumentosdeRequisitosdoSistema.pdf</a:t>
            </a:r>
            <a:endParaRPr/>
          </a:p>
        </p:txBody>
      </p:sp>
      <p:sp>
        <p:nvSpPr>
          <p:cNvPr id="301" name="Google Shape;301;g1f4f08aab51_0_0"/>
          <p:cNvSpPr txBox="1"/>
          <p:nvPr/>
        </p:nvSpPr>
        <p:spPr>
          <a:xfrm>
            <a:off x="3111225" y="2010125"/>
            <a:ext cx="4101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b="1"/>
              <a:t>https://www.facom.ufu.br/~ronaldooliveira/PDS-2019-1/Aula6-ModeloRequisitos.pdf</a:t>
            </a:r>
            <a:endParaRPr b="1"/>
          </a:p>
        </p:txBody>
      </p:sp>
      <p:sp>
        <p:nvSpPr>
          <p:cNvPr id="302" name="Google Shape;302;g1f4f08aab51_0_0"/>
          <p:cNvSpPr txBox="1"/>
          <p:nvPr/>
        </p:nvSpPr>
        <p:spPr>
          <a:xfrm>
            <a:off x="3170350" y="2767925"/>
            <a:ext cx="3983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a:t>https://www.cin.ufpe.br/~cezl/Exemplo_de_requisitos.pdf</a:t>
            </a:r>
            <a:endParaRPr/>
          </a:p>
        </p:txBody>
      </p:sp>
      <p:sp>
        <p:nvSpPr>
          <p:cNvPr id="303" name="Google Shape;303;g1f4f08aab51_0_0"/>
          <p:cNvSpPr txBox="1"/>
          <p:nvPr/>
        </p:nvSpPr>
        <p:spPr>
          <a:xfrm>
            <a:off x="3661900" y="3672875"/>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a:t>https://docs.fct.unesp.br/docentes/dmec/rogerio/ES_II/DR2.pdf</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1f4f08aab51_0_84"/>
          <p:cNvSpPr txBox="1">
            <a:spLocks noGrp="1"/>
          </p:cNvSpPr>
          <p:nvPr>
            <p:ph type="title"/>
          </p:nvPr>
        </p:nvSpPr>
        <p:spPr>
          <a:xfrm>
            <a:off x="1285900" y="458225"/>
            <a:ext cx="4736700" cy="269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a:t>Vamos Aplicar</a:t>
            </a:r>
            <a:endParaRPr/>
          </a:p>
        </p:txBody>
      </p:sp>
      <p:sp>
        <p:nvSpPr>
          <p:cNvPr id="309" name="Google Shape;309;g1f4f08aab51_0_84"/>
          <p:cNvSpPr txBox="1">
            <a:spLocks noGrp="1"/>
          </p:cNvSpPr>
          <p:nvPr>
            <p:ph type="subTitle" idx="1"/>
          </p:nvPr>
        </p:nvSpPr>
        <p:spPr>
          <a:xfrm>
            <a:off x="1285900" y="2963125"/>
            <a:ext cx="3961500" cy="10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1f4f08aab51_0_25"/>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Situação 1 - Sistema de Reservas de Hotel</a:t>
            </a:r>
            <a:endParaRPr sz="2400" b="1" i="0" u="none" strike="noStrike" cap="none">
              <a:solidFill>
                <a:schemeClr val="dk1"/>
              </a:solidFill>
              <a:latin typeface="Times New Roman"/>
              <a:ea typeface="Times New Roman"/>
              <a:cs typeface="Times New Roman"/>
              <a:sym typeface="Times New Roman"/>
            </a:endParaRPr>
          </a:p>
        </p:txBody>
      </p:sp>
      <p:sp>
        <p:nvSpPr>
          <p:cNvPr id="315" name="Google Shape;315;g1f4f08aab51_0_25"/>
          <p:cNvSpPr txBox="1"/>
          <p:nvPr/>
        </p:nvSpPr>
        <p:spPr>
          <a:xfrm>
            <a:off x="1840125" y="1426275"/>
            <a:ext cx="63630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Briefing:</a:t>
            </a:r>
            <a:endParaRPr sz="1600" b="1">
              <a:solidFill>
                <a:srgbClr val="0D0D0D"/>
              </a:solidFill>
              <a:highlight>
                <a:srgbClr val="FFFFFF"/>
              </a:highlight>
              <a:latin typeface="Roboto"/>
              <a:ea typeface="Roboto"/>
              <a:cs typeface="Roboto"/>
              <a:sym typeface="Roboto"/>
            </a:endParaRPr>
          </a:p>
          <a:p>
            <a:pPr marL="0" lvl="0" indent="0" algn="l" rtl="0">
              <a:spcBef>
                <a:spcPts val="0"/>
              </a:spcBef>
              <a:spcAft>
                <a:spcPts val="0"/>
              </a:spcAft>
              <a:buNone/>
            </a:pPr>
            <a:endParaRPr sz="1600">
              <a:solidFill>
                <a:srgbClr val="0D0D0D"/>
              </a:solidFill>
              <a:highlight>
                <a:srgbClr val="FFFFFF"/>
              </a:highlight>
              <a:latin typeface="Roboto"/>
              <a:ea typeface="Roboto"/>
              <a:cs typeface="Roboto"/>
              <a:sym typeface="Roboto"/>
            </a:endParaRPr>
          </a:p>
          <a:p>
            <a:pPr marL="0" lvl="0" indent="0" algn="l" rtl="0">
              <a:spcBef>
                <a:spcPts val="0"/>
              </a:spcBef>
              <a:spcAft>
                <a:spcPts val="0"/>
              </a:spcAft>
              <a:buNone/>
            </a:pPr>
            <a:r>
              <a:rPr lang="pt-BR" sz="1600">
                <a:solidFill>
                  <a:srgbClr val="0D0D0D"/>
                </a:solidFill>
                <a:highlight>
                  <a:srgbClr val="FFFFFF"/>
                </a:highlight>
                <a:latin typeface="Roboto"/>
                <a:ea typeface="Roboto"/>
                <a:cs typeface="Roboto"/>
                <a:sym typeface="Roboto"/>
              </a:rPr>
              <a:t>Você está desenvolvendo um sistema de reservas de hotel para uma cadeia hoteleira internacional. O sistema deve permitir que os usuários façam reservas de quartos de hotel em vários destinos ao redor do mundo. Os usuários devem poder visualizar a disponibilidade dos quartos, selecionar as datas de check-in e check-out, escolher o tipo de quarto e fazer o pagamento online. Além disso, o sistema deve ser capaz de lidar com diferentes moedas e idiomas para atender aos clientes globais da cadeia hoteleira.</a:t>
            </a: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1f4f08aab51_0_36"/>
          <p:cNvSpPr txBox="1"/>
          <p:nvPr/>
        </p:nvSpPr>
        <p:spPr>
          <a:xfrm>
            <a:off x="1684725" y="73301"/>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Vamos Aplicar - Situação 1</a:t>
            </a:r>
            <a:endParaRPr sz="2400" b="1" i="0" u="none" strike="noStrike" cap="none">
              <a:solidFill>
                <a:schemeClr val="dk1"/>
              </a:solidFill>
              <a:latin typeface="Times New Roman"/>
              <a:ea typeface="Times New Roman"/>
              <a:cs typeface="Times New Roman"/>
              <a:sym typeface="Times New Roman"/>
            </a:endParaRPr>
          </a:p>
        </p:txBody>
      </p:sp>
      <p:sp>
        <p:nvSpPr>
          <p:cNvPr id="321" name="Google Shape;321;g1f4f08aab51_0_36"/>
          <p:cNvSpPr txBox="1"/>
          <p:nvPr/>
        </p:nvSpPr>
        <p:spPr>
          <a:xfrm>
            <a:off x="1832750" y="535000"/>
            <a:ext cx="7131300" cy="491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Exemplo:</a:t>
            </a:r>
            <a:endParaRPr sz="1600">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pt-BR" sz="1200">
                <a:solidFill>
                  <a:srgbClr val="0D0D0D"/>
                </a:solidFill>
                <a:highlight>
                  <a:srgbClr val="FFFFFF"/>
                </a:highlight>
                <a:latin typeface="Roboto"/>
                <a:ea typeface="Roboto"/>
                <a:cs typeface="Roboto"/>
                <a:sym typeface="Roboto"/>
              </a:rPr>
              <a:t>Requisitos Funcionais: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visualizar a disponibilidade de quartos de hotel para as datas desejadas.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selecionar o destino e as datas de check-in e check-out.</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filtrar os resultados da pesquisa por tipo de quarto, preço e comodidades.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permitir que os usuários visualizem detalhes específicos de cada quarto, incluindo fotos e descrição.</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adicionar quartos selecionados ao carrinho de reservas.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revisar o carrinho de reservas antes de confirmar a reserva.</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processar pagamentos online de forma segura e eficiente.</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receber um e-mail de confirmação após a conclusão bem-sucedida da reserva.</a:t>
            </a:r>
            <a:endParaRPr sz="1200">
              <a:solidFill>
                <a:srgbClr val="0D0D0D"/>
              </a:solidFill>
              <a:highlight>
                <a:srgbClr val="FFFFFF"/>
              </a:highlight>
              <a:latin typeface="Roboto"/>
              <a:ea typeface="Roboto"/>
              <a:cs typeface="Roboto"/>
              <a:sym typeface="Roboto"/>
            </a:endParaRPr>
          </a:p>
          <a:p>
            <a:pPr marL="0" lvl="0" indent="0" algn="l" rtl="0">
              <a:spcBef>
                <a:spcPts val="100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1f4f08aab51_0_45"/>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Vamos Aplicar - Situação 1</a:t>
            </a:r>
            <a:endParaRPr sz="2400" b="1" i="0" u="none" strike="noStrike" cap="none">
              <a:solidFill>
                <a:schemeClr val="dk1"/>
              </a:solidFill>
              <a:latin typeface="Times New Roman"/>
              <a:ea typeface="Times New Roman"/>
              <a:cs typeface="Times New Roman"/>
              <a:sym typeface="Times New Roman"/>
            </a:endParaRPr>
          </a:p>
        </p:txBody>
      </p:sp>
      <p:sp>
        <p:nvSpPr>
          <p:cNvPr id="327" name="Google Shape;327;g1f4f08aab51_0_45"/>
          <p:cNvSpPr txBox="1"/>
          <p:nvPr/>
        </p:nvSpPr>
        <p:spPr>
          <a:xfrm>
            <a:off x="1877075" y="1001325"/>
            <a:ext cx="6363000" cy="4444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Exemplo:</a:t>
            </a:r>
            <a:endParaRPr sz="1600">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None/>
            </a:pPr>
            <a:r>
              <a:rPr lang="pt-BR" sz="1200">
                <a:solidFill>
                  <a:srgbClr val="0D0D0D"/>
                </a:solidFill>
                <a:highlight>
                  <a:srgbClr val="FFFFFF"/>
                </a:highlight>
                <a:latin typeface="Roboto"/>
                <a:ea typeface="Roboto"/>
                <a:cs typeface="Roboto"/>
                <a:sym typeface="Roboto"/>
              </a:rPr>
              <a:t>Requisitos Não-Funcionais: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ter um tempo de resposta máximo de 3 segundos para qualquer ação do usuário.</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ser capaz de lidar com um volume de tráfego de até 1000 usuários simultâneos.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A interface do usuário deve ser intuitiva e fácil de usar, seguindo os padrões de design modernos.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estar disponível 24 horas por dia, 7 dias por semana, com um tempo de inatividade máximo de 99.9%.</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suportar transações financeiras seguras e estar em conformidade com os padrões de segurança PCI DSS.</a:t>
            </a:r>
            <a:endParaRPr sz="1200">
              <a:solidFill>
                <a:srgbClr val="0D0D0D"/>
              </a:solidFill>
              <a:highlight>
                <a:srgbClr val="FFFFFF"/>
              </a:highlight>
              <a:latin typeface="Roboto"/>
              <a:ea typeface="Roboto"/>
              <a:cs typeface="Roboto"/>
              <a:sym typeface="Roboto"/>
            </a:endParaRPr>
          </a:p>
          <a:p>
            <a:pPr marL="457200" lvl="0" indent="-228600" algn="l" rtl="0">
              <a:lnSpc>
                <a:spcPct val="115000"/>
              </a:lnSpc>
              <a:spcBef>
                <a:spcPts val="1000"/>
              </a:spcBef>
              <a:spcAft>
                <a:spcPts val="0"/>
              </a:spcAft>
              <a:buClr>
                <a:srgbClr val="0D0D0D"/>
              </a:buClr>
              <a:buSzPts val="1200"/>
              <a:buFont typeface="Roboto"/>
              <a:buNone/>
            </a:pPr>
            <a:endParaRPr sz="1200">
              <a:solidFill>
                <a:srgbClr val="0D0D0D"/>
              </a:solidFill>
              <a:highlight>
                <a:srgbClr val="FFFFFF"/>
              </a:highlight>
              <a:latin typeface="Roboto"/>
              <a:ea typeface="Roboto"/>
              <a:cs typeface="Roboto"/>
              <a:sym typeface="Roboto"/>
            </a:endParaRPr>
          </a:p>
          <a:p>
            <a:pPr marL="0" lvl="0" indent="0" algn="l" rtl="0">
              <a:spcBef>
                <a:spcPts val="150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1f4f08aab51_0_51"/>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Vamos Aplicar - Situação 1</a:t>
            </a:r>
            <a:endParaRPr sz="2400" b="1" i="0" u="none" strike="noStrike" cap="none">
              <a:solidFill>
                <a:schemeClr val="dk1"/>
              </a:solidFill>
              <a:latin typeface="Times New Roman"/>
              <a:ea typeface="Times New Roman"/>
              <a:cs typeface="Times New Roman"/>
              <a:sym typeface="Times New Roman"/>
            </a:endParaRPr>
          </a:p>
        </p:txBody>
      </p:sp>
      <p:sp>
        <p:nvSpPr>
          <p:cNvPr id="333" name="Google Shape;333;g1f4f08aab51_0_51"/>
          <p:cNvSpPr txBox="1"/>
          <p:nvPr/>
        </p:nvSpPr>
        <p:spPr>
          <a:xfrm>
            <a:off x="1877075" y="1001325"/>
            <a:ext cx="6363000" cy="389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Exemplo:</a:t>
            </a:r>
            <a:endParaRPr sz="1600">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None/>
            </a:pPr>
            <a:r>
              <a:rPr lang="pt-BR" sz="1200">
                <a:solidFill>
                  <a:srgbClr val="0D0D0D"/>
                </a:solidFill>
                <a:highlight>
                  <a:srgbClr val="FFFFFF"/>
                </a:highlight>
                <a:latin typeface="Roboto"/>
                <a:ea typeface="Roboto"/>
                <a:cs typeface="Roboto"/>
                <a:sym typeface="Roboto"/>
              </a:rPr>
              <a:t>Regras de Negócio:</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preços dos quartos devem ser calculados com base na taxa diária, duração da estadia e quaisquer taxas extras aplicáveis.</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As reservas devem ser confirmadas apenas após a conclusão bem-sucedida do pagamento.</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As reservas podem ser canceladas ou modificadas de acordo com a política de cancelamento do hotel, sujeitas a possíveis taxas de cancelamento.</a:t>
            </a:r>
            <a:endParaRPr sz="1200">
              <a:solidFill>
                <a:srgbClr val="0D0D0D"/>
              </a:solidFill>
              <a:highlight>
                <a:srgbClr val="FFFFFF"/>
              </a:highlight>
              <a:latin typeface="Roboto"/>
              <a:ea typeface="Roboto"/>
              <a:cs typeface="Roboto"/>
              <a:sym typeface="Roboto"/>
            </a:endParaRPr>
          </a:p>
          <a:p>
            <a:pPr marL="457200" lvl="0" indent="-304800" algn="l" rtl="0">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ter a opção de receber ofertas promocionais e atualizações por e-mail, mas apenas se optarem por isso durante o processo de reserva.</a:t>
            </a:r>
            <a:endParaRPr sz="1200">
              <a:solidFill>
                <a:srgbClr val="0D0D0D"/>
              </a:solidFill>
              <a:highlight>
                <a:srgbClr val="FFFFFF"/>
              </a:highlight>
              <a:latin typeface="Roboto"/>
              <a:ea typeface="Roboto"/>
              <a:cs typeface="Roboto"/>
              <a:sym typeface="Roboto"/>
            </a:endParaRPr>
          </a:p>
          <a:p>
            <a:pPr marL="457200" lvl="0" indent="-228600" algn="l" rtl="0">
              <a:lnSpc>
                <a:spcPct val="115000"/>
              </a:lnSpc>
              <a:spcBef>
                <a:spcPts val="1000"/>
              </a:spcBef>
              <a:spcAft>
                <a:spcPts val="0"/>
              </a:spcAft>
              <a:buClr>
                <a:srgbClr val="0D0D0D"/>
              </a:buClr>
              <a:buSzPts val="1200"/>
              <a:buFont typeface="Roboto"/>
              <a:buNone/>
            </a:pPr>
            <a:endParaRPr sz="1200">
              <a:solidFill>
                <a:srgbClr val="0D0D0D"/>
              </a:solidFill>
              <a:highlight>
                <a:srgbClr val="FFFFFF"/>
              </a:highlight>
              <a:latin typeface="Roboto"/>
              <a:ea typeface="Roboto"/>
              <a:cs typeface="Roboto"/>
              <a:sym typeface="Roboto"/>
            </a:endParaRPr>
          </a:p>
          <a:p>
            <a:pPr marL="0" lvl="0" indent="0" algn="l" rtl="0">
              <a:spcBef>
                <a:spcPts val="150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f4f08aab51_0_57"/>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Situação 2 - Aplicativo de Entrega de Alimentos </a:t>
            </a:r>
            <a:endParaRPr sz="2400" b="1" i="0" u="none" strike="noStrike" cap="none">
              <a:solidFill>
                <a:schemeClr val="dk1"/>
              </a:solidFill>
              <a:latin typeface="Times New Roman"/>
              <a:ea typeface="Times New Roman"/>
              <a:cs typeface="Times New Roman"/>
              <a:sym typeface="Times New Roman"/>
            </a:endParaRPr>
          </a:p>
        </p:txBody>
      </p:sp>
      <p:sp>
        <p:nvSpPr>
          <p:cNvPr id="339" name="Google Shape;339;g1f4f08aab51_0_57"/>
          <p:cNvSpPr txBox="1"/>
          <p:nvPr/>
        </p:nvSpPr>
        <p:spPr>
          <a:xfrm>
            <a:off x="1840125" y="1426275"/>
            <a:ext cx="6806400" cy="359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Briefing:</a:t>
            </a:r>
            <a:endParaRPr sz="1600" b="1">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pt-BR">
                <a:solidFill>
                  <a:srgbClr val="0D0D0D"/>
                </a:solidFill>
                <a:highlight>
                  <a:srgbClr val="FFFFFF"/>
                </a:highlight>
                <a:latin typeface="Roboto"/>
                <a:ea typeface="Roboto"/>
                <a:cs typeface="Roboto"/>
                <a:sym typeface="Roboto"/>
              </a:rPr>
              <a:t>Sua equipe foi contratada para desenvolver um aplicativo de entrega de alimentos para uma startup local. O objetivo principal é fornecer aos usuários uma plataforma intuitiva e eficiente para fazer pedidos de comida de uma variedade de restaurantes parceiros. Os usuários devem poder navegar facilmente pelos menus dos restaurantes, fazer pedidos de seus pratos favoritos, acompanhar o status do pedido em tempo real e efetuar pagamentos de forma segura através do aplicativo. Além disso, é fundamental que o aplicativo permita aos usuários fornecer feedback sobre a experiência de entrega e a qualidade dos alimentos, contribuindo para a melhoria contínua do serviço. A empresa tem como prioridade oferecer uma experiência de usuário excepcional, garantindo que o aplicativo seja rápido, responsivo e capaz de atender às expectativas dos clientes de forma consistente.</a:t>
            </a:r>
            <a:endParaRPr>
              <a:solidFill>
                <a:srgbClr val="0D0D0D"/>
              </a:solidFill>
              <a:highlight>
                <a:srgbClr val="FFFFFF"/>
              </a:highlight>
              <a:latin typeface="Roboto"/>
              <a:ea typeface="Roboto"/>
              <a:cs typeface="Roboto"/>
              <a:sym typeface="Roboto"/>
            </a:endParaRPr>
          </a:p>
          <a:p>
            <a:pPr marL="0" lvl="0" indent="0" algn="l" rtl="0">
              <a:spcBef>
                <a:spcPts val="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1f4f08aab51_0_65"/>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Situação 3 - Plataforma de E-Learning </a:t>
            </a:r>
            <a:endParaRPr sz="2400" b="1" i="0" u="none" strike="noStrike" cap="none">
              <a:solidFill>
                <a:schemeClr val="dk1"/>
              </a:solidFill>
              <a:latin typeface="Times New Roman"/>
              <a:ea typeface="Times New Roman"/>
              <a:cs typeface="Times New Roman"/>
              <a:sym typeface="Times New Roman"/>
            </a:endParaRPr>
          </a:p>
        </p:txBody>
      </p:sp>
      <p:sp>
        <p:nvSpPr>
          <p:cNvPr id="345" name="Google Shape;345;g1f4f08aab51_0_65"/>
          <p:cNvSpPr txBox="1"/>
          <p:nvPr/>
        </p:nvSpPr>
        <p:spPr>
          <a:xfrm>
            <a:off x="1840125" y="1426275"/>
            <a:ext cx="6806400" cy="309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Briefing:</a:t>
            </a:r>
            <a:endParaRPr sz="1600" b="1">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None/>
            </a:pPr>
            <a:r>
              <a:rPr lang="pt-BR">
                <a:solidFill>
                  <a:srgbClr val="0D0D0D"/>
                </a:solidFill>
                <a:highlight>
                  <a:srgbClr val="FFFFFF"/>
                </a:highlight>
                <a:latin typeface="Roboto"/>
                <a:ea typeface="Roboto"/>
                <a:cs typeface="Roboto"/>
                <a:sym typeface="Roboto"/>
              </a:rPr>
              <a:t>Como líder designado para o desenvolvimento, você está encarregado de criar uma plataforma de e-learning para uma universidade de prestígio. Esta plataforma é projetada para oferecer uma ampla gama de cursos online, proporcionando aos alunos acesso a materiais do curso, participação em aulas ao vivo, submissão de tarefas, interação com instrutores e colegas, além de realização de avaliações e exames. É essencial que a plataforma seja robusta e escalável, capaz de lidar com um grande volume de usuários simultâneos, e que garanta a segurança e privacidade dos dados dos usuários em conformidade com os padrões de segurança da universidade.</a:t>
            </a:r>
            <a:endParaRPr>
              <a:solidFill>
                <a:srgbClr val="0D0D0D"/>
              </a:solidFill>
              <a:highlight>
                <a:srgbClr val="FFFFFF"/>
              </a:highlight>
              <a:latin typeface="Roboto"/>
              <a:ea typeface="Roboto"/>
              <a:cs typeface="Roboto"/>
              <a:sym typeface="Roboto"/>
            </a:endParaRPr>
          </a:p>
          <a:p>
            <a:pPr marL="0" lvl="0" indent="0" algn="l" rtl="0">
              <a:spcBef>
                <a:spcPts val="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g1f4f08aab51_0_71"/>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Situação 4 - Sistema de Controle de Estoque </a:t>
            </a:r>
            <a:endParaRPr sz="2400" b="1" i="0" u="none" strike="noStrike" cap="none">
              <a:solidFill>
                <a:schemeClr val="dk1"/>
              </a:solidFill>
              <a:latin typeface="Times New Roman"/>
              <a:ea typeface="Times New Roman"/>
              <a:cs typeface="Times New Roman"/>
              <a:sym typeface="Times New Roman"/>
            </a:endParaRPr>
          </a:p>
        </p:txBody>
      </p:sp>
      <p:sp>
        <p:nvSpPr>
          <p:cNvPr id="351" name="Google Shape;351;g1f4f08aab51_0_71"/>
          <p:cNvSpPr txBox="1"/>
          <p:nvPr/>
        </p:nvSpPr>
        <p:spPr>
          <a:xfrm>
            <a:off x="1840125" y="1426275"/>
            <a:ext cx="6806400" cy="309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Briefing:</a:t>
            </a:r>
            <a:endParaRPr sz="1600" b="1">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None/>
            </a:pPr>
            <a:r>
              <a:rPr lang="pt-BR">
                <a:solidFill>
                  <a:srgbClr val="0D0D0D"/>
                </a:solidFill>
                <a:highlight>
                  <a:srgbClr val="FFFFFF"/>
                </a:highlight>
                <a:latin typeface="Roboto"/>
                <a:ea typeface="Roboto"/>
                <a:cs typeface="Roboto"/>
                <a:sym typeface="Roboto"/>
              </a:rPr>
              <a:t>A sua empresa está atualmente engajada no desenvolvimento de um sistema de controle de estoque destinado a uma cadeia de varejo com múltiplas filiais. Este sistema é concebido para oferecer funcionalidades cruciais, incluindo o rastreamento em tempo real do estoque de produtos em cada filial, a gestão de pedidos de reposição de estoque, a automatização de processos de inventário, e a geração de relatórios abrangentes de vendas e previsões de demanda. A empresa busca uma solução eficiente, precisa e facilmente integrável com os sistemas existentes, com o objetivo de melhorar significativamente a gestão de estoque e otimizar as operações em toda a cadeia de varejo.</a:t>
            </a:r>
            <a:endParaRPr>
              <a:solidFill>
                <a:srgbClr val="0D0D0D"/>
              </a:solidFill>
              <a:highlight>
                <a:srgbClr val="FFFFFF"/>
              </a:highlight>
              <a:latin typeface="Roboto"/>
              <a:ea typeface="Roboto"/>
              <a:cs typeface="Roboto"/>
              <a:sym typeface="Roboto"/>
            </a:endParaRPr>
          </a:p>
          <a:p>
            <a:pPr marL="0" lvl="0" indent="0" algn="l" rtl="0">
              <a:spcBef>
                <a:spcPts val="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1f4f08aab51_0_76"/>
          <p:cNvSpPr txBox="1"/>
          <p:nvPr/>
        </p:nvSpPr>
        <p:spPr>
          <a:xfrm>
            <a:off x="1669925" y="539626"/>
            <a:ext cx="794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pt-BR" sz="2400" b="1">
                <a:solidFill>
                  <a:schemeClr val="dk1"/>
                </a:solidFill>
                <a:latin typeface="Times New Roman"/>
                <a:ea typeface="Times New Roman"/>
                <a:cs typeface="Times New Roman"/>
                <a:sym typeface="Times New Roman"/>
              </a:rPr>
              <a:t>Situação 5 - Plataforma de Gerenciamento de Projetos </a:t>
            </a:r>
            <a:endParaRPr sz="2400" b="1" i="0" u="none" strike="noStrike" cap="none">
              <a:solidFill>
                <a:schemeClr val="dk1"/>
              </a:solidFill>
              <a:latin typeface="Times New Roman"/>
              <a:ea typeface="Times New Roman"/>
              <a:cs typeface="Times New Roman"/>
              <a:sym typeface="Times New Roman"/>
            </a:endParaRPr>
          </a:p>
        </p:txBody>
      </p:sp>
      <p:sp>
        <p:nvSpPr>
          <p:cNvPr id="357" name="Google Shape;357;g1f4f08aab51_0_76"/>
          <p:cNvSpPr txBox="1"/>
          <p:nvPr/>
        </p:nvSpPr>
        <p:spPr>
          <a:xfrm>
            <a:off x="1840125" y="1426275"/>
            <a:ext cx="6806400" cy="309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600" b="1">
                <a:solidFill>
                  <a:srgbClr val="0D0D0D"/>
                </a:solidFill>
                <a:highlight>
                  <a:srgbClr val="FFFFFF"/>
                </a:highlight>
                <a:latin typeface="Roboto"/>
                <a:ea typeface="Roboto"/>
                <a:cs typeface="Roboto"/>
                <a:sym typeface="Roboto"/>
              </a:rPr>
              <a:t>Briefing:</a:t>
            </a:r>
            <a:endParaRPr sz="1600" b="1">
              <a:solidFill>
                <a:srgbClr val="0D0D0D"/>
              </a:solidFill>
              <a:highlight>
                <a:srgbClr val="FFFFFF"/>
              </a:highlight>
              <a:latin typeface="Roboto"/>
              <a:ea typeface="Roboto"/>
              <a:cs typeface="Roboto"/>
              <a:sym typeface="Roboto"/>
            </a:endParaRPr>
          </a:p>
          <a:p>
            <a:pPr marL="0" lvl="0" indent="0" algn="l" rtl="0">
              <a:lnSpc>
                <a:spcPct val="115000"/>
              </a:lnSpc>
              <a:spcBef>
                <a:spcPts val="1500"/>
              </a:spcBef>
              <a:spcAft>
                <a:spcPts val="0"/>
              </a:spcAft>
              <a:buNone/>
            </a:pPr>
            <a:r>
              <a:rPr lang="pt-BR">
                <a:solidFill>
                  <a:srgbClr val="0D0D0D"/>
                </a:solidFill>
                <a:highlight>
                  <a:srgbClr val="FFFFFF"/>
                </a:highlight>
                <a:latin typeface="Roboto"/>
                <a:ea typeface="Roboto"/>
                <a:cs typeface="Roboto"/>
                <a:sym typeface="Roboto"/>
              </a:rPr>
              <a:t>Como contratado para liderar o desenvolvimento, você tem a responsabilidade de criar uma plataforma de gerenciamento de projetos para uma empresa de consultoria. Esta plataforma deve capacitar os usuários a criar e atribuir tarefas, monitorar o progresso do projeto, facilitar a comunicação entre os membros da equipe, gerenciar prazos e orçamentos, além de fornecer relatórios de desempenho detalhados. A empresa tem como requisitos fundamentais que a solução seja flexível, personalizável e compatível com dispositivos móveis, garantindo assim uma experiência de usuário otimizada e adaptável às necessidades específicas de cada projeto e equipe.</a:t>
            </a:r>
            <a:endParaRPr>
              <a:solidFill>
                <a:srgbClr val="0D0D0D"/>
              </a:solidFill>
              <a:highlight>
                <a:srgbClr val="FFFFFF"/>
              </a:highlight>
              <a:latin typeface="Roboto"/>
              <a:ea typeface="Roboto"/>
              <a:cs typeface="Roboto"/>
              <a:sym typeface="Roboto"/>
            </a:endParaRPr>
          </a:p>
          <a:p>
            <a:pPr marL="0" lvl="0" indent="0" algn="l" rtl="0">
              <a:spcBef>
                <a:spcPts val="0"/>
              </a:spcBef>
              <a:spcAft>
                <a:spcPts val="0"/>
              </a:spcAft>
              <a:buNone/>
            </a:pP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0"/>
          <p:cNvSpPr txBox="1">
            <a:spLocks noGrp="1"/>
          </p:cNvSpPr>
          <p:nvPr>
            <p:ph type="title"/>
          </p:nvPr>
        </p:nvSpPr>
        <p:spPr>
          <a:xfrm>
            <a:off x="496300" y="355831"/>
            <a:ext cx="5016000" cy="676725"/>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300"/>
              <a:buNone/>
            </a:pPr>
            <a:r>
              <a:rPr lang="pt-BR"/>
              <a:t>Referências</a:t>
            </a:r>
            <a:endParaRPr/>
          </a:p>
        </p:txBody>
      </p:sp>
      <p:sp>
        <p:nvSpPr>
          <p:cNvPr id="363" name="Google Shape;363;p40"/>
          <p:cNvSpPr txBox="1">
            <a:spLocks noGrp="1"/>
          </p:cNvSpPr>
          <p:nvPr>
            <p:ph type="subTitle" idx="1"/>
          </p:nvPr>
        </p:nvSpPr>
        <p:spPr>
          <a:xfrm>
            <a:off x="409533" y="1346911"/>
            <a:ext cx="6458480" cy="10665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None/>
            </a:pPr>
            <a:r>
              <a:rPr lang="pt-BR"/>
              <a:t>Engenharia de Software, Ian Sommerville</a:t>
            </a:r>
            <a:endParaRPr/>
          </a:p>
          <a:p>
            <a:pPr marL="457200" lvl="0" indent="-31750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None/>
            </a:pPr>
            <a:r>
              <a:rPr lang="pt-BR" u="sng">
                <a:solidFill>
                  <a:schemeClr val="hlink"/>
                </a:solidFill>
                <a:hlinkClick r:id="rId3"/>
              </a:rPr>
              <a:t>http://www.inf.ufes.br/~jssalamon/wp-content/uploads/disciplinas/engreq/slides/Slide%202%20-%20Introdu%C3%A7%C3%A3o%20%C3%A0%20Engenharia%20de%20Requisitos.pdf</a:t>
            </a:r>
            <a:endParaRPr/>
          </a:p>
          <a:p>
            <a:pPr marL="457200" lvl="0" indent="-31750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None/>
            </a:pPr>
            <a:r>
              <a:rPr lang="pt-BR" u="sng">
                <a:solidFill>
                  <a:schemeClr val="hlink"/>
                </a:solidFill>
                <a:hlinkClick r:id="rId4"/>
              </a:rPr>
              <a:t>https://slideplayer.com.br/slide/1594477/</a:t>
            </a:r>
            <a:endParaRPr/>
          </a:p>
          <a:p>
            <a:pPr marL="457200" lvl="0" indent="-31750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None/>
            </a:pPr>
            <a:r>
              <a:rPr lang="pt-BR" u="sng">
                <a:solidFill>
                  <a:schemeClr val="hlink"/>
                </a:solidFill>
                <a:hlinkClick r:id="rId5"/>
              </a:rPr>
              <a:t>https://www.devmedia.com.br/introducao-a-engenharia-de-requisitos/8034#2</a:t>
            </a:r>
            <a:endParaRPr/>
          </a:p>
          <a:p>
            <a:pPr marL="457200" lvl="0" indent="-31750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None/>
            </a:pPr>
            <a:r>
              <a:rPr lang="pt-BR"/>
              <a:t>https://chat.openai.com/share/0c5e8413-3389-42ca-85b8-df2d622548b0</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1"/>
          <p:cNvSpPr txBox="1">
            <a:spLocks noGrp="1"/>
          </p:cNvSpPr>
          <p:nvPr>
            <p:ph type="ctrTitle"/>
          </p:nvPr>
        </p:nvSpPr>
        <p:spPr>
          <a:xfrm>
            <a:off x="2106771" y="1852628"/>
            <a:ext cx="6135000" cy="1156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rgbClr val="000000"/>
              </a:buClr>
              <a:buSzPts val="1100"/>
              <a:buFont typeface="Arial"/>
              <a:buNone/>
            </a:pPr>
            <a:r>
              <a:rPr lang="pt-BR" sz="6400">
                <a:solidFill>
                  <a:srgbClr val="252525"/>
                </a:solidFill>
              </a:rPr>
              <a:t>Obrigado!!</a:t>
            </a:r>
            <a:endParaRPr sz="6400">
              <a:solidFill>
                <a:srgbClr val="174584"/>
              </a:solidFill>
            </a:endParaRPr>
          </a:p>
        </p:txBody>
      </p:sp>
      <p:pic>
        <p:nvPicPr>
          <p:cNvPr id="369" name="Google Shape;369;p41"/>
          <p:cNvPicPr preferRelativeResize="0"/>
          <p:nvPr/>
        </p:nvPicPr>
        <p:blipFill rotWithShape="1">
          <a:blip r:embed="rId3">
            <a:alphaModFix/>
          </a:blip>
          <a:srcRect/>
          <a:stretch/>
        </p:blipFill>
        <p:spPr>
          <a:xfrm>
            <a:off x="4436160" y="3780429"/>
            <a:ext cx="1571756" cy="509249"/>
          </a:xfrm>
          <a:prstGeom prst="rect">
            <a:avLst/>
          </a:prstGeom>
          <a:noFill/>
          <a:ln>
            <a:noFill/>
          </a:ln>
        </p:spPr>
      </p:pic>
    </p:spTree>
  </p:cSld>
  <p:clrMapOvr>
    <a:masterClrMapping/>
  </p:clrMapOvr>
</p:sld>
</file>

<file path=ppt/theme/theme1.xml><?xml version="1.0" encoding="utf-8"?>
<a:theme xmlns:a="http://schemas.openxmlformats.org/drawingml/2006/main" name="Elegant Blue">
  <a:themeElements>
    <a:clrScheme name="Azul">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2848</Words>
  <Application>Microsoft Office PowerPoint</Application>
  <PresentationFormat>Apresentação na tela (16:9)</PresentationFormat>
  <Paragraphs>234</Paragraphs>
  <Slides>52</Slides>
  <Notes>52</Notes>
  <HiddenSlides>3</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52</vt:i4>
      </vt:variant>
    </vt:vector>
  </HeadingPairs>
  <TitlesOfParts>
    <vt:vector size="60" baseType="lpstr">
      <vt:lpstr>Times New Roman</vt:lpstr>
      <vt:lpstr>Roboto</vt:lpstr>
      <vt:lpstr>Montserrat</vt:lpstr>
      <vt:lpstr>Spectral Light</vt:lpstr>
      <vt:lpstr>Montserrat ExtraBold</vt:lpstr>
      <vt:lpstr>Arial</vt:lpstr>
      <vt:lpstr>Montserrat SemiBold</vt:lpstr>
      <vt:lpstr>Elegant Blue</vt:lpstr>
      <vt:lpstr>Processo de Software      Tarik Ponciano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Vamos Aplicar</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Referências</vt:lpstr>
      <vt:lpstr>Obrigado!!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Processo de Software      Tarik Ponciano</dc:title>
  <dc:creator>Doraneide Albuquerque Fernandes</dc:creator>
  <cp:lastModifiedBy>Aluno</cp:lastModifiedBy>
  <cp:revision>2</cp:revision>
  <dcterms:modified xsi:type="dcterms:W3CDTF">2026-06-13T00:13:58Z</dcterms:modified>
</cp:coreProperties>
</file>